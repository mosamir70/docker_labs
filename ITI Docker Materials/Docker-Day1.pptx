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3" r:id="rId1"/>
  </p:sldMasterIdLst>
  <p:notesMasterIdLst>
    <p:notesMasterId r:id="rId36"/>
  </p:notesMasterIdLst>
  <p:sldIdLst>
    <p:sldId id="282" r:id="rId2"/>
    <p:sldId id="351" r:id="rId3"/>
    <p:sldId id="381" r:id="rId4"/>
    <p:sldId id="287" r:id="rId5"/>
    <p:sldId id="352" r:id="rId6"/>
    <p:sldId id="357" r:id="rId7"/>
    <p:sldId id="379" r:id="rId8"/>
    <p:sldId id="353" r:id="rId9"/>
    <p:sldId id="354" r:id="rId10"/>
    <p:sldId id="355" r:id="rId11"/>
    <p:sldId id="356" r:id="rId12"/>
    <p:sldId id="358" r:id="rId13"/>
    <p:sldId id="359" r:id="rId14"/>
    <p:sldId id="380" r:id="rId15"/>
    <p:sldId id="360" r:id="rId16"/>
    <p:sldId id="361" r:id="rId17"/>
    <p:sldId id="362" r:id="rId18"/>
    <p:sldId id="363" r:id="rId19"/>
    <p:sldId id="364" r:id="rId20"/>
    <p:sldId id="382" r:id="rId21"/>
    <p:sldId id="365" r:id="rId22"/>
    <p:sldId id="383" r:id="rId23"/>
    <p:sldId id="384" r:id="rId24"/>
    <p:sldId id="366" r:id="rId25"/>
    <p:sldId id="367" r:id="rId26"/>
    <p:sldId id="368" r:id="rId27"/>
    <p:sldId id="388" r:id="rId28"/>
    <p:sldId id="387" r:id="rId29"/>
    <p:sldId id="386" r:id="rId30"/>
    <p:sldId id="385" r:id="rId31"/>
    <p:sldId id="369" r:id="rId32"/>
    <p:sldId id="370" r:id="rId33"/>
    <p:sldId id="371" r:id="rId34"/>
    <p:sldId id="372" r:id="rId35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TRO" initials="M" lastIdx="1" clrIdx="0">
    <p:extLst>
      <p:ext uri="{19B8F6BF-5375-455C-9EA6-DF929625EA0E}">
        <p15:presenceInfo xmlns:p15="http://schemas.microsoft.com/office/powerpoint/2012/main" userId="MET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94660"/>
  </p:normalViewPr>
  <p:slideViewPr>
    <p:cSldViewPr snapToGrid="0">
      <p:cViewPr varScale="1">
        <p:scale>
          <a:sx n="77" d="100"/>
          <a:sy n="77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039094-7DA2-432D-9DA8-F06B69EF5E86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ABF292FD-465B-4D00-94D7-6ECCB501041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5055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292FD-465B-4D00-94D7-6ECCB5010411}" type="slidenum">
              <a:rPr lang="ar-EG" smtClean="0"/>
              <a:t>14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11591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292FD-465B-4D00-94D7-6ECCB5010411}" type="slidenum">
              <a:rPr lang="ar-EG" smtClean="0"/>
              <a:t>20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37470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292FD-465B-4D00-94D7-6ECCB5010411}" type="slidenum">
              <a:rPr lang="ar-EG" smtClean="0"/>
              <a:t>24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5901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9B94-6199-B69A-7337-54FA7AB8D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D08DC-8BCC-D865-93AA-C771EFC8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F307-C2B9-F0F2-3137-FBD0C7A1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BC7E-1051-73B0-DDA5-372933CB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1106F-20C6-F179-3BE0-1228A726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9761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7633-BD7D-1017-6361-657614CB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FBD3A-5AB0-AD50-DE49-90FED6B3F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18B64-9634-E51D-E731-A1972E2C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C7302-A6A1-14A6-BCF3-404251EC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AE14A-8A66-E17E-4F04-C293454D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6076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B5306-B033-F71A-1B5C-21463BEB8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31760-76F5-0FAF-3B09-188F7BE0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65AD8-0D74-618F-1EAD-782888D0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D984E-8CA6-D67D-9CE1-7C326322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ED58C-B6C2-6FC2-1A24-CCC0F305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5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D2C2-4D7A-CA1F-A473-6DB62761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10A5E-3F3D-A893-193A-EEDDC8D9C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EDD1F-01AA-B2AE-C2AA-91853163B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3E7E1-A57C-39BF-ECCA-58BC73AC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697FD-13D7-0688-3824-95AADCD3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D4F1A-D913-67B6-DEA5-CD476EC5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4429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1EC4-6F0F-0831-C50B-9ED2120D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E8963-B4F6-A76C-C014-C5C3C8AEE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1F578-2BC8-6FB2-5BE6-42F4D9973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3BA83-B9E4-5066-7722-10BC99013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B38FFF-8CCF-886C-AA18-E27CC512C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99AA8-C7A0-BB2A-27BB-45CDE021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10DDB-5F7D-59AD-0AD1-D92AABE0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8A1D9-F882-2644-9232-6C3A27AF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996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EF43-E0C1-1023-6D61-C9C72E4E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6C3A6-D080-26D3-AB13-ABFDE8A1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41957-1F30-A4A6-C626-7B6F67BE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D1A72-F3A7-956A-145D-6A205B0E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1106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E3C8F-F9DD-66C4-A579-F542DE1E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A9DCD-2B8E-EBA5-D4BE-AE94D385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4D4FA-D599-DCBF-3117-3A64E6F4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9258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4F3B-2AE5-788F-4B47-87154B72F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B46C-56F5-64C3-A952-1EBA57C1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2ECA6-945B-CFF9-DF5F-A88C1811D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34C86-7CA5-CB31-0CB0-F24DDF548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A0D11-6DEC-CC18-535B-00CCBE51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B380D-EE8B-DA45-EFAB-6D70A6AB2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5205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3198-0D2D-DAAD-F908-2860CF42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69CF9-58DB-34C4-6462-814940C92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9A010-840E-92F9-8D3D-92831A0EA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6A266-F5CF-7870-A8ED-989D223F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F31C1-6A8C-DA66-A8CD-8937F292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25D6C-D7ED-C4B2-7B28-43A70E02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2184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E799B-3A3F-FFC4-9B6E-D24FFED52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32DE6-7651-FDE9-AB30-824ED8CF6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4D1CD-0FCB-135E-DF3E-5E1A1519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80C92-D426-76B7-6DEC-9BD3FD57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E63B9-49AE-4149-5780-15723F6B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333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E235C-A5B2-D7A3-9983-FEB293322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73205-C43E-3F11-AB39-AE8D1CED5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FF3A-D535-28D7-9152-5098AF9E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D65C0-153F-BCB2-BBB1-7122B734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9178A-45D3-948F-8CB6-1599342B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3780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040558-6384-BF5C-6E29-76D695821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CAD59-7A8F-228A-5323-6ECA82C3D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50464-CB1E-C67F-C639-9117906C9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FFADB-A5D9-4570-A804-E213E9606115}" type="datetimeFigureOut">
              <a:rPr lang="ar-EG" smtClean="0"/>
              <a:t>05/11/1445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02CBA-CD6B-3F41-35AE-D55BB1E4B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234F8-E83A-22ED-FAC4-6AC1DA515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01B38-4B70-470B-88AF-920B11B4FA0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5681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b.docker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install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b.docker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reference/commandline/image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docker.com/engine/reference/commandline/tag" TargetMode="External"/><Relationship Id="rId5" Type="http://schemas.openxmlformats.org/officeDocument/2006/relationships/hyperlink" Target="https://docs.docker.com/engine/reference/commandline/history" TargetMode="External"/><Relationship Id="rId4" Type="http://schemas.openxmlformats.org/officeDocument/2006/relationships/hyperlink" Target="https://docs.docker.com/engine/reference/commandline/rmi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docker.com/engine/reference/commandline/load" TargetMode="External"/><Relationship Id="rId5" Type="http://schemas.openxmlformats.org/officeDocument/2006/relationships/hyperlink" Target="https://docs.docker.com/engine/reference/commandline/save" TargetMode="External"/><Relationship Id="rId4" Type="http://schemas.openxmlformats.org/officeDocument/2006/relationships/hyperlink" Target="https://docs.docker.com/engine/reference/commandline/commi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reference/commandline/p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docker.com/engine/reference/commandline/logs" TargetMode="External"/><Relationship Id="rId4" Type="http://schemas.openxmlformats.org/officeDocument/2006/relationships/hyperlink" Target="https://docs.docker.com/engine/reference/commandline/run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ocker.com/engine/reference/commandline/diff" TargetMode="External"/><Relationship Id="rId3" Type="http://schemas.openxmlformats.org/officeDocument/2006/relationships/hyperlink" Target="https://docs.docker.com/engine/reference/commandline/inspect" TargetMode="External"/><Relationship Id="rId7" Type="http://schemas.openxmlformats.org/officeDocument/2006/relationships/hyperlink" Target="https://docs.docker.com/engine/reference/commandline/stat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docker.com/engine/reference/commandline/top" TargetMode="External"/><Relationship Id="rId5" Type="http://schemas.openxmlformats.org/officeDocument/2006/relationships/hyperlink" Target="https://docs.docker.com/engine/reference/commandline/port" TargetMode="External"/><Relationship Id="rId4" Type="http://schemas.openxmlformats.org/officeDocument/2006/relationships/hyperlink" Target="https://docs.docker.com/engine/reference/commandline/event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reference/commandline/impor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reference/builder/#fr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docker.com/engine/reference/builder/#expose" TargetMode="External"/><Relationship Id="rId5" Type="http://schemas.openxmlformats.org/officeDocument/2006/relationships/hyperlink" Target="https://docs.docker.com/engine/reference/builder/#cmd" TargetMode="External"/><Relationship Id="rId4" Type="http://schemas.openxmlformats.org/officeDocument/2006/relationships/hyperlink" Target="https://docs.docker.com/engine/reference/builder/#run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reference/builder/#env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oby/moby/issues/30110" TargetMode="External"/><Relationship Id="rId4" Type="http://schemas.openxmlformats.org/officeDocument/2006/relationships/hyperlink" Target="https://docs.docker.com/engine/reference/builder/#copy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reference/builder/#entrypoint" TargetMode="External"/><Relationship Id="rId7" Type="http://schemas.openxmlformats.org/officeDocument/2006/relationships/hyperlink" Target="https://docs.docker.com/engine/reference/builder/#ar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docker.com/engine/reference/builder/#workdir" TargetMode="External"/><Relationship Id="rId5" Type="http://schemas.openxmlformats.org/officeDocument/2006/relationships/hyperlink" Target="https://docs.docker.com/engine/reference/builder/#user" TargetMode="External"/><Relationship Id="rId4" Type="http://schemas.openxmlformats.org/officeDocument/2006/relationships/hyperlink" Target="https://docs.docker.com/engine/reference/builder/#volume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Mengenal Docker dan Software Architecture | by Hanif Pratama | PsychoTeam |  Medium">
            <a:extLst>
              <a:ext uri="{FF2B5EF4-FFF2-40B4-BE49-F238E27FC236}">
                <a16:creationId xmlns:a16="http://schemas.microsoft.com/office/drawing/2014/main" id="{B511E7EC-3882-824C-B4E9-79A741986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40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7D4B23-C481-B27A-ED7F-EFD8FD9E05B6}"/>
              </a:ext>
            </a:extLst>
          </p:cNvPr>
          <p:cNvSpPr txBox="1"/>
          <p:nvPr/>
        </p:nvSpPr>
        <p:spPr>
          <a:xfrm>
            <a:off x="808374" y="1769950"/>
            <a:ext cx="90227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Containers VS Virtual Machines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Container technology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Docker</a:t>
            </a:r>
            <a:r>
              <a:rPr lang="en-US" sz="1400" dirty="0"/>
              <a:t> </a:t>
            </a:r>
            <a:r>
              <a:rPr lang="en-US" sz="2800" dirty="0"/>
              <a:t>architecture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Docker Images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EG" sz="2800" dirty="0"/>
              <a:t>Docker Containers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Install Docker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</a:t>
            </a:r>
            <a:r>
              <a:rPr lang="en-EG" sz="2800" dirty="0"/>
              <a:t>mages </a:t>
            </a:r>
            <a:r>
              <a:rPr lang="en-US" sz="2800" dirty="0"/>
              <a:t>C</a:t>
            </a:r>
            <a:r>
              <a:rPr lang="en-EG" sz="2800" dirty="0"/>
              <a:t>ommands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</a:t>
            </a:r>
            <a:r>
              <a:rPr lang="en-EG" sz="2800" dirty="0"/>
              <a:t>ontainers </a:t>
            </a:r>
            <a:r>
              <a:rPr lang="en-US" sz="2800" dirty="0"/>
              <a:t>C</a:t>
            </a:r>
            <a:r>
              <a:rPr lang="en-EG" sz="2800" dirty="0"/>
              <a:t>ommands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Conclusion  </a:t>
            </a:r>
            <a:endParaRPr lang="en-EG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02554-E7C3-A688-D8AF-CDDA19D7DF38}"/>
              </a:ext>
            </a:extLst>
          </p:cNvPr>
          <p:cNvSpPr txBox="1"/>
          <p:nvPr/>
        </p:nvSpPr>
        <p:spPr>
          <a:xfrm>
            <a:off x="808374" y="694247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0" i="0" u="none" strike="noStrike" baseline="0" dirty="0">
                <a:solidFill>
                  <a:srgbClr val="FF0000"/>
                </a:solidFill>
                <a:latin typeface="GillSans-Light"/>
              </a:rPr>
              <a:t>Agenda</a:t>
            </a:r>
          </a:p>
        </p:txBody>
      </p:sp>
      <p:pic>
        <p:nvPicPr>
          <p:cNvPr id="1026" name="Picture 2" descr="What is Docker? | AWS">
            <a:extLst>
              <a:ext uri="{FF2B5EF4-FFF2-40B4-BE49-F238E27FC236}">
                <a16:creationId xmlns:a16="http://schemas.microsoft.com/office/drawing/2014/main" id="{EB73086D-4F44-0CD3-DA60-88A330652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8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7D4B23-C481-B27A-ED7F-EFD8FD9E05B6}"/>
              </a:ext>
            </a:extLst>
          </p:cNvPr>
          <p:cNvSpPr txBox="1"/>
          <p:nvPr/>
        </p:nvSpPr>
        <p:spPr>
          <a:xfrm>
            <a:off x="808374" y="1752696"/>
            <a:ext cx="90227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Docker file basics &amp; Sample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EG" sz="2800" dirty="0"/>
              <a:t>Building Docker</a:t>
            </a:r>
            <a:r>
              <a:rPr lang="en-US" sz="2800" dirty="0"/>
              <a:t> </a:t>
            </a:r>
            <a:r>
              <a:rPr lang="en-EG" sz="2800" dirty="0"/>
              <a:t>file, tagging and creating image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EG" sz="2800" dirty="0"/>
              <a:t>Logging to your Docker repo from CLI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EG" sz="2800" dirty="0"/>
              <a:t>Pushing/Pulling image to docker repo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02554-E7C3-A688-D8AF-CDDA19D7DF38}"/>
              </a:ext>
            </a:extLst>
          </p:cNvPr>
          <p:cNvSpPr txBox="1"/>
          <p:nvPr/>
        </p:nvSpPr>
        <p:spPr>
          <a:xfrm>
            <a:off x="808374" y="586678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0" i="0" u="none" strike="noStrike" baseline="0" dirty="0">
                <a:solidFill>
                  <a:srgbClr val="FF0000"/>
                </a:solidFill>
                <a:latin typeface="GillSans-Light"/>
              </a:rPr>
              <a:t>Agenda</a:t>
            </a:r>
          </a:p>
        </p:txBody>
      </p:sp>
      <p:pic>
        <p:nvPicPr>
          <p:cNvPr id="1026" name="Picture 2" descr="What is Docker? | AWS">
            <a:extLst>
              <a:ext uri="{FF2B5EF4-FFF2-40B4-BE49-F238E27FC236}">
                <a16:creationId xmlns:a16="http://schemas.microsoft.com/office/drawing/2014/main" id="{EB73086D-4F44-0CD3-DA60-88A330652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A09DD4-0E48-F94B-A3D4-84DB48755643}"/>
              </a:ext>
            </a:extLst>
          </p:cNvPr>
          <p:cNvSpPr txBox="1"/>
          <p:nvPr/>
        </p:nvSpPr>
        <p:spPr>
          <a:xfrm>
            <a:off x="346906" y="3696205"/>
            <a:ext cx="750793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Day 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Docker Volume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Docker </a:t>
            </a:r>
            <a:r>
              <a:rPr lang="en-EG" sz="2800" dirty="0"/>
              <a:t>Networking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Docker  Compose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Docker Compose Basics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Docker Compose Commands</a:t>
            </a:r>
          </a:p>
          <a:p>
            <a:pPr lvl="1"/>
            <a:r>
              <a:rPr lang="en-EG" sz="2800" dirty="0"/>
              <a:t> 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201359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8F0CCCC-F8A5-3B2B-734A-761D7116C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54" y="1463819"/>
            <a:ext cx="8391292" cy="48473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CA115-DB1E-A4F2-775E-3F7871F1564D}"/>
              </a:ext>
            </a:extLst>
          </p:cNvPr>
          <p:cNvSpPr txBox="1"/>
          <p:nvPr/>
        </p:nvSpPr>
        <p:spPr>
          <a:xfrm>
            <a:off x="1258354" y="5558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 Virtual Machines VS Containers</a:t>
            </a:r>
          </a:p>
        </p:txBody>
      </p:sp>
    </p:spTree>
    <p:extLst>
      <p:ext uri="{BB962C8B-B14F-4D97-AF65-F5344CB8AC3E}">
        <p14:creationId xmlns:p14="http://schemas.microsoft.com/office/powerpoint/2010/main" val="415835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1F55D3C5-EB5C-763E-E04E-123CDB0A53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230912"/>
              </p:ext>
            </p:extLst>
          </p:nvPr>
        </p:nvGraphicFramePr>
        <p:xfrm>
          <a:off x="1148242" y="2505849"/>
          <a:ext cx="9895516" cy="358924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00362">
                  <a:extLst>
                    <a:ext uri="{9D8B030D-6E8A-4147-A177-3AD203B41FA5}">
                      <a16:colId xmlns:a16="http://schemas.microsoft.com/office/drawing/2014/main" val="95023062"/>
                    </a:ext>
                  </a:extLst>
                </a:gridCol>
                <a:gridCol w="4795154">
                  <a:extLst>
                    <a:ext uri="{9D8B030D-6E8A-4147-A177-3AD203B41FA5}">
                      <a16:colId xmlns:a16="http://schemas.microsoft.com/office/drawing/2014/main" val="376219480"/>
                    </a:ext>
                  </a:extLst>
                </a:gridCol>
              </a:tblGrid>
              <a:tr h="537166">
                <a:tc>
                  <a:txBody>
                    <a:bodyPr/>
                    <a:lstStyle/>
                    <a:p>
                      <a:r>
                        <a:rPr lang="en-EG" sz="2400" dirty="0"/>
                        <a:t>VMs</a:t>
                      </a:r>
                    </a:p>
                  </a:txBody>
                  <a:tcPr marL="122083" marR="122083" marT="61042" marB="61042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EG" sz="2400"/>
                        <a:t>Containers</a:t>
                      </a:r>
                    </a:p>
                  </a:txBody>
                  <a:tcPr marL="122083" marR="122083" marT="61042" marB="61042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944045"/>
                  </a:ext>
                </a:extLst>
              </a:tr>
              <a:tr h="537166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Heavyweight</a:t>
                      </a:r>
                      <a:endParaRPr lang="en-EG" sz="2400" dirty="0"/>
                    </a:p>
                  </a:txBody>
                  <a:tcPr marL="122083" marR="122083" marT="61042" marB="61042"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Lightweight</a:t>
                      </a:r>
                      <a:endParaRPr lang="en-EG" sz="2400" dirty="0"/>
                    </a:p>
                  </a:txBody>
                  <a:tcPr marL="122083" marR="122083" marT="61042" marB="61042"/>
                </a:tc>
                <a:extLst>
                  <a:ext uri="{0D108BD9-81ED-4DB2-BD59-A6C34878D82A}">
                    <a16:rowId xmlns:a16="http://schemas.microsoft.com/office/drawing/2014/main" val="761316990"/>
                  </a:ext>
                </a:extLst>
              </a:tr>
              <a:tr h="537166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performance</a:t>
                      </a:r>
                      <a:endParaRPr lang="en-EG" sz="2400" dirty="0"/>
                    </a:p>
                  </a:txBody>
                  <a:tcPr marL="122083" marR="122083" marT="61042" marB="61042"/>
                </a:tc>
                <a:tc>
                  <a:txBody>
                    <a:bodyPr/>
                    <a:lstStyle/>
                    <a:p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Native performance</a:t>
                      </a:r>
                      <a:endParaRPr lang="en-EG" sz="2400"/>
                    </a:p>
                  </a:txBody>
                  <a:tcPr marL="122083" marR="122083" marT="61042" marB="61042"/>
                </a:tc>
                <a:extLst>
                  <a:ext uri="{0D108BD9-81ED-4DB2-BD59-A6C34878D82A}">
                    <a16:rowId xmlns:a16="http://schemas.microsoft.com/office/drawing/2014/main" val="2504491397"/>
                  </a:ext>
                </a:extLst>
              </a:tr>
              <a:tr h="903416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VM runs in its own OS (More secure and isolated)</a:t>
                      </a:r>
                      <a:endParaRPr lang="en-EG" sz="2400" dirty="0"/>
                    </a:p>
                  </a:txBody>
                  <a:tcPr marL="122083" marR="122083" marT="61042" marB="61042"/>
                </a:tc>
                <a:tc>
                  <a:txBody>
                    <a:bodyPr/>
                    <a:lstStyle/>
                    <a:p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containers share the host OS</a:t>
                      </a:r>
                      <a:endParaRPr lang="en-EG" sz="2400"/>
                    </a:p>
                  </a:txBody>
                  <a:tcPr marL="122083" marR="122083" marT="61042" marB="61042"/>
                </a:tc>
                <a:extLst>
                  <a:ext uri="{0D108BD9-81ED-4DB2-BD59-A6C34878D82A}">
                    <a16:rowId xmlns:a16="http://schemas.microsoft.com/office/drawing/2014/main" val="1775719739"/>
                  </a:ext>
                </a:extLst>
              </a:tr>
              <a:tr h="537166">
                <a:tc>
                  <a:txBody>
                    <a:bodyPr/>
                    <a:lstStyle/>
                    <a:p>
                      <a:r>
                        <a:rPr lang="en-EG" sz="2400"/>
                        <a:t>Slower Startup</a:t>
                      </a:r>
                    </a:p>
                  </a:txBody>
                  <a:tcPr marL="122083" marR="122083" marT="61042" marB="61042"/>
                </a:tc>
                <a:tc>
                  <a:txBody>
                    <a:bodyPr/>
                    <a:lstStyle/>
                    <a:p>
                      <a:r>
                        <a:rPr lang="en-EG" sz="2400"/>
                        <a:t>Faster Startup</a:t>
                      </a:r>
                    </a:p>
                  </a:txBody>
                  <a:tcPr marL="122083" marR="122083" marT="61042" marB="61042"/>
                </a:tc>
                <a:extLst>
                  <a:ext uri="{0D108BD9-81ED-4DB2-BD59-A6C34878D82A}">
                    <a16:rowId xmlns:a16="http://schemas.microsoft.com/office/drawing/2014/main" val="3616993552"/>
                  </a:ext>
                </a:extLst>
              </a:tr>
              <a:tr h="537166">
                <a:tc>
                  <a:txBody>
                    <a:bodyPr/>
                    <a:lstStyle/>
                    <a:p>
                      <a:r>
                        <a:rPr lang="en-EG" sz="2400"/>
                        <a:t>More memory is required</a:t>
                      </a:r>
                    </a:p>
                  </a:txBody>
                  <a:tcPr marL="122083" marR="122083" marT="61042" marB="61042"/>
                </a:tc>
                <a:tc>
                  <a:txBody>
                    <a:bodyPr/>
                    <a:lstStyle/>
                    <a:p>
                      <a:r>
                        <a:rPr lang="en-EG" sz="2400" dirty="0"/>
                        <a:t>Fewer memory is required</a:t>
                      </a:r>
                    </a:p>
                  </a:txBody>
                  <a:tcPr marL="122083" marR="122083" marT="61042" marB="61042"/>
                </a:tc>
                <a:extLst>
                  <a:ext uri="{0D108BD9-81ED-4DB2-BD59-A6C34878D82A}">
                    <a16:rowId xmlns:a16="http://schemas.microsoft.com/office/drawing/2014/main" val="17309128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18308B3-59CC-79A1-13A3-513BB930588D}"/>
              </a:ext>
            </a:extLst>
          </p:cNvPr>
          <p:cNvSpPr txBox="1"/>
          <p:nvPr/>
        </p:nvSpPr>
        <p:spPr>
          <a:xfrm>
            <a:off x="1148242" y="10768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 Virtual Machines VS Containers</a:t>
            </a:r>
          </a:p>
        </p:txBody>
      </p:sp>
    </p:spTree>
    <p:extLst>
      <p:ext uri="{BB962C8B-B14F-4D97-AF65-F5344CB8AC3E}">
        <p14:creationId xmlns:p14="http://schemas.microsoft.com/office/powerpoint/2010/main" val="389120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30DAE8-3CD7-9211-8BD1-8377028803A0}"/>
              </a:ext>
            </a:extLst>
          </p:cNvPr>
          <p:cNvSpPr txBox="1"/>
          <p:nvPr/>
        </p:nvSpPr>
        <p:spPr>
          <a:xfrm>
            <a:off x="246741" y="7110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Container</a:t>
            </a:r>
            <a:r>
              <a:rPr lang="en-US" sz="1800" b="1" i="0" u="none" strike="noStrike" baseline="0" dirty="0">
                <a:solidFill>
                  <a:srgbClr val="BF0000"/>
                </a:solidFill>
                <a:latin typeface="RedHatDisplay-Bold"/>
              </a:rPr>
              <a:t> </a:t>
            </a:r>
            <a:r>
              <a:rPr lang="en-US" sz="3600" dirty="0"/>
              <a:t>technology</a:t>
            </a:r>
            <a:endParaRPr lang="ar-EG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D338A-7078-C86E-5692-E487B2004BBE}"/>
              </a:ext>
            </a:extLst>
          </p:cNvPr>
          <p:cNvSpPr txBox="1"/>
          <p:nvPr/>
        </p:nvSpPr>
        <p:spPr>
          <a:xfrm>
            <a:off x="101599" y="1982705"/>
            <a:ext cx="12090401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RedHatText-Bold"/>
              </a:rPr>
              <a:t>Namespaces</a:t>
            </a:r>
          </a:p>
          <a:p>
            <a:pPr lvl="1"/>
            <a:r>
              <a:rPr lang="en-US" sz="2400" dirty="0">
                <a:solidFill>
                  <a:schemeClr val="dk1"/>
                </a:solidFill>
              </a:rPr>
              <a:t>A namespace </a:t>
            </a:r>
            <a:r>
              <a:rPr lang="en-US" sz="2400" dirty="0">
                <a:solidFill>
                  <a:srgbClr val="FF0000"/>
                </a:solidFill>
              </a:rPr>
              <a:t>isolates</a:t>
            </a:r>
            <a:r>
              <a:rPr lang="en-US" sz="2400" dirty="0">
                <a:solidFill>
                  <a:schemeClr val="dk1"/>
                </a:solidFill>
              </a:rPr>
              <a:t> specific system resources usually visible to all processes. Inside a</a:t>
            </a:r>
          </a:p>
          <a:p>
            <a:pPr lvl="1"/>
            <a:r>
              <a:rPr lang="en-US" sz="2400" dirty="0">
                <a:solidFill>
                  <a:schemeClr val="dk1"/>
                </a:solidFill>
              </a:rPr>
              <a:t>namespace, only processes that are members of that namespace can see those resources.</a:t>
            </a:r>
          </a:p>
          <a:p>
            <a:pPr lvl="1"/>
            <a:r>
              <a:rPr lang="en-US" sz="2400" dirty="0">
                <a:solidFill>
                  <a:schemeClr val="dk1"/>
                </a:solidFill>
              </a:rPr>
              <a:t>Namespaces can include resources like network interfaces, the process ID list, mount points, IPC resources, and the system's host name information</a:t>
            </a:r>
            <a:r>
              <a:rPr lang="en-US" b="0" i="0" u="none" strike="noStrike" baseline="0" dirty="0">
                <a:latin typeface="RedHatText-Regular"/>
              </a:rPr>
              <a:t>.</a:t>
            </a:r>
          </a:p>
          <a:p>
            <a:pPr algn="l"/>
            <a:endParaRPr lang="en-US" sz="1800" b="0" i="0" u="none" strike="noStrike" baseline="0" dirty="0">
              <a:latin typeface="RedHatText-Regular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FF0000"/>
                </a:solidFill>
                <a:latin typeface="RedHatText-Bold"/>
              </a:rPr>
              <a:t>Control groups (</a:t>
            </a:r>
            <a:r>
              <a:rPr lang="en-US" sz="2400" b="1" i="0" u="none" strike="noStrike" baseline="0" dirty="0" err="1">
                <a:solidFill>
                  <a:srgbClr val="FF0000"/>
                </a:solidFill>
                <a:latin typeface="RedHatText-Bold"/>
              </a:rPr>
              <a:t>cgroups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RedHatText-Bold"/>
              </a:rPr>
              <a:t>)</a:t>
            </a:r>
          </a:p>
          <a:p>
            <a:pPr lvl="1"/>
            <a:r>
              <a:rPr lang="en-US" sz="2400" dirty="0">
                <a:solidFill>
                  <a:schemeClr val="dk1"/>
                </a:solidFill>
              </a:rPr>
              <a:t>Control groups partition sets of processes and their children into groups to manage and </a:t>
            </a:r>
            <a:r>
              <a:rPr lang="en-US" sz="2400" dirty="0">
                <a:solidFill>
                  <a:srgbClr val="FF0000"/>
                </a:solidFill>
              </a:rPr>
              <a:t>limit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the resources they consume</a:t>
            </a:r>
            <a:r>
              <a:rPr lang="en-US" sz="2400" dirty="0">
                <a:solidFill>
                  <a:schemeClr val="dk1"/>
                </a:solidFill>
              </a:rPr>
              <a:t>. Control groups place restrictions on the amount of system resources processes might use. Those restrictions keep one process from using too many resources on the host.</a:t>
            </a:r>
          </a:p>
        </p:txBody>
      </p:sp>
    </p:spTree>
    <p:extLst>
      <p:ext uri="{BB962C8B-B14F-4D97-AF65-F5344CB8AC3E}">
        <p14:creationId xmlns:p14="http://schemas.microsoft.com/office/powerpoint/2010/main" val="154732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30DAE8-3CD7-9211-8BD1-8377028803A0}"/>
              </a:ext>
            </a:extLst>
          </p:cNvPr>
          <p:cNvSpPr txBox="1"/>
          <p:nvPr/>
        </p:nvSpPr>
        <p:spPr>
          <a:xfrm>
            <a:off x="290285" y="7782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Container</a:t>
            </a:r>
            <a:r>
              <a:rPr lang="en-US" sz="1800" b="1" i="0" u="none" strike="noStrike" baseline="0" dirty="0">
                <a:solidFill>
                  <a:srgbClr val="BF0000"/>
                </a:solidFill>
                <a:latin typeface="RedHatDisplay-Bold"/>
              </a:rPr>
              <a:t> </a:t>
            </a:r>
            <a:r>
              <a:rPr lang="en-US" sz="3600" dirty="0"/>
              <a:t>History cont’d</a:t>
            </a:r>
            <a:endParaRPr lang="ar-EG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D338A-7078-C86E-5692-E487B2004BBE}"/>
              </a:ext>
            </a:extLst>
          </p:cNvPr>
          <p:cNvSpPr txBox="1"/>
          <p:nvPr/>
        </p:nvSpPr>
        <p:spPr>
          <a:xfrm>
            <a:off x="110402" y="2294103"/>
            <a:ext cx="117917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RedHatText-Bold"/>
              </a:rPr>
              <a:t>Seccomp</a:t>
            </a:r>
          </a:p>
          <a:p>
            <a:pPr lvl="1"/>
            <a:r>
              <a:rPr lang="en-US" sz="2400" dirty="0">
                <a:solidFill>
                  <a:schemeClr val="dk1"/>
                </a:solidFill>
              </a:rPr>
              <a:t>Developed in 2005 and introduced to containers circa 2014, Seccomp </a:t>
            </a:r>
            <a:r>
              <a:rPr lang="en-US" sz="2400" dirty="0">
                <a:solidFill>
                  <a:srgbClr val="FF0000"/>
                </a:solidFill>
              </a:rPr>
              <a:t>limits</a:t>
            </a:r>
            <a:r>
              <a:rPr lang="en-US" sz="2400" dirty="0">
                <a:solidFill>
                  <a:schemeClr val="dk1"/>
                </a:solidFill>
              </a:rPr>
              <a:t> how processes could use </a:t>
            </a:r>
            <a:r>
              <a:rPr lang="en-US" sz="2400" dirty="0">
                <a:solidFill>
                  <a:srgbClr val="FF0000"/>
                </a:solidFill>
              </a:rPr>
              <a:t>system calls</a:t>
            </a:r>
            <a:r>
              <a:rPr lang="en-US" sz="2400" dirty="0">
                <a:solidFill>
                  <a:schemeClr val="dk1"/>
                </a:solidFill>
              </a:rPr>
              <a:t>. Seccomp defines a security profile for processes that lists the system calls, parameters and file descriptors they are allowed to use.</a:t>
            </a:r>
          </a:p>
          <a:p>
            <a:pPr algn="l"/>
            <a:endParaRPr lang="en-US" sz="2400" dirty="0">
              <a:solidFill>
                <a:schemeClr val="dk1"/>
              </a:solidFill>
            </a:endParaRPr>
          </a:p>
          <a:p>
            <a:pPr algn="l"/>
            <a:r>
              <a:rPr lang="en-US" sz="2400" b="1" dirty="0" err="1">
                <a:solidFill>
                  <a:srgbClr val="FF0000"/>
                </a:solidFill>
                <a:latin typeface="RedHatText-Bold"/>
              </a:rPr>
              <a:t>SELinux</a:t>
            </a:r>
            <a:endParaRPr lang="en-US" sz="2400" b="1" dirty="0">
              <a:solidFill>
                <a:srgbClr val="FF0000"/>
              </a:solidFill>
              <a:latin typeface="RedHatText-Bold"/>
            </a:endParaRPr>
          </a:p>
          <a:p>
            <a:pPr lvl="1"/>
            <a:r>
              <a:rPr lang="en-US" sz="2400" dirty="0">
                <a:solidFill>
                  <a:schemeClr val="dk1"/>
                </a:solidFill>
              </a:rPr>
              <a:t>Security-Enhanced Linux (</a:t>
            </a:r>
            <a:r>
              <a:rPr lang="en-US" sz="2400" dirty="0" err="1">
                <a:solidFill>
                  <a:schemeClr val="dk1"/>
                </a:solidFill>
              </a:rPr>
              <a:t>SELinux</a:t>
            </a:r>
            <a:r>
              <a:rPr lang="en-US" sz="2400" dirty="0">
                <a:solidFill>
                  <a:schemeClr val="dk1"/>
                </a:solidFill>
              </a:rPr>
              <a:t>) is a mandatory access control system for processes.</a:t>
            </a:r>
          </a:p>
          <a:p>
            <a:pPr lvl="1"/>
            <a:r>
              <a:rPr lang="en-US" sz="2400" dirty="0">
                <a:solidFill>
                  <a:schemeClr val="dk1"/>
                </a:solidFill>
              </a:rPr>
              <a:t>Linux kernel uses </a:t>
            </a:r>
            <a:r>
              <a:rPr lang="en-US" sz="2400" dirty="0" err="1">
                <a:solidFill>
                  <a:schemeClr val="dk1"/>
                </a:solidFill>
              </a:rPr>
              <a:t>SELinux</a:t>
            </a:r>
            <a:r>
              <a:rPr lang="en-US" sz="2400" dirty="0">
                <a:solidFill>
                  <a:schemeClr val="dk1"/>
                </a:solidFill>
              </a:rPr>
              <a:t> to </a:t>
            </a:r>
            <a:r>
              <a:rPr lang="en-US" sz="2400" dirty="0">
                <a:solidFill>
                  <a:srgbClr val="FF0000"/>
                </a:solidFill>
              </a:rPr>
              <a:t>protect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processes</a:t>
            </a:r>
            <a:r>
              <a:rPr lang="en-US" sz="2400" dirty="0">
                <a:solidFill>
                  <a:schemeClr val="dk1"/>
                </a:solidFill>
              </a:rPr>
              <a:t> from </a:t>
            </a:r>
            <a:r>
              <a:rPr lang="en-US" sz="2400" dirty="0">
                <a:solidFill>
                  <a:srgbClr val="FF0000"/>
                </a:solidFill>
              </a:rPr>
              <a:t>each other </a:t>
            </a:r>
            <a:r>
              <a:rPr lang="en-US" sz="2400" dirty="0">
                <a:solidFill>
                  <a:schemeClr val="dk1"/>
                </a:solidFill>
              </a:rPr>
              <a:t>and to protect the host</a:t>
            </a:r>
          </a:p>
          <a:p>
            <a:pPr lvl="1"/>
            <a:r>
              <a:rPr lang="en-US" sz="2400" dirty="0">
                <a:solidFill>
                  <a:schemeClr val="dk1"/>
                </a:solidFill>
              </a:rPr>
              <a:t>system from its running processes. Processes run as a confined </a:t>
            </a:r>
            <a:r>
              <a:rPr lang="en-US" sz="2400" dirty="0" err="1">
                <a:solidFill>
                  <a:schemeClr val="dk1"/>
                </a:solidFill>
              </a:rPr>
              <a:t>SELinux</a:t>
            </a:r>
            <a:r>
              <a:rPr lang="en-US" sz="2400" dirty="0">
                <a:solidFill>
                  <a:schemeClr val="dk1"/>
                </a:solidFill>
              </a:rPr>
              <a:t> type that has limited access to host system resources</a:t>
            </a:r>
            <a:endParaRPr lang="ar-EG"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99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7C9145-BF78-D780-73E8-EDA16FC7C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3540"/>
            <a:ext cx="12192000" cy="3548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CEE6EF-2547-DEFD-A7BD-A5EA1FE47417}"/>
              </a:ext>
            </a:extLst>
          </p:cNvPr>
          <p:cNvSpPr txBox="1"/>
          <p:nvPr/>
        </p:nvSpPr>
        <p:spPr>
          <a:xfrm>
            <a:off x="362857" y="9540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Docker</a:t>
            </a:r>
            <a:r>
              <a:rPr lang="en-US" sz="1800" dirty="0"/>
              <a:t> </a:t>
            </a:r>
            <a:r>
              <a:rPr lang="en-US" sz="3600" dirty="0"/>
              <a:t>architecture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61563A0-8450-0DB4-0905-64FB0FF3A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882182" tIns="0" rIns="0" bIns="374532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EG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2341BC0-0BCC-101D-4719-E3B28FBFB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ar-EG" sz="3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Docker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28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390582-69AA-7DB0-B0A5-5F23E427E6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8686" y="493486"/>
            <a:ext cx="10145485" cy="6023428"/>
          </a:xfrm>
          <a:prstGeom prst="rect">
            <a:avLst/>
          </a:prstGeom>
        </p:spPr>
      </p:pic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22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046E2E-539A-6025-CC53-5D208AAD07D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8686" y="566057"/>
            <a:ext cx="9666513" cy="629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3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6AA430-B938-88B8-396F-C92972253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4555"/>
            <a:ext cx="12192000" cy="4778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CC7183-7381-0BE3-99D1-380D617B956A}"/>
              </a:ext>
            </a:extLst>
          </p:cNvPr>
          <p:cNvSpPr txBox="1"/>
          <p:nvPr/>
        </p:nvSpPr>
        <p:spPr>
          <a:xfrm>
            <a:off x="740228" y="743298"/>
            <a:ext cx="8358868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/>
              <a:t>Securing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dirty="0"/>
              <a:t>client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dirty="0"/>
              <a:t>and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dirty="0"/>
              <a:t>daemon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dirty="0"/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126124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1F1CE4-D42C-B46A-66B9-6D2B261DE2C8}"/>
              </a:ext>
            </a:extLst>
          </p:cNvPr>
          <p:cNvSpPr txBox="1"/>
          <p:nvPr/>
        </p:nvSpPr>
        <p:spPr>
          <a:xfrm>
            <a:off x="740228" y="743298"/>
            <a:ext cx="8358868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/>
              <a:t>Docker Images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03754F-69AA-C56A-0A7A-37209C5555E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08994" y="3429000"/>
            <a:ext cx="8874125" cy="20072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2CDB1E-0410-E5D9-EC2D-415367A1DF6F}"/>
              </a:ext>
            </a:extLst>
          </p:cNvPr>
          <p:cNvSpPr txBox="1"/>
          <p:nvPr/>
        </p:nvSpPr>
        <p:spPr>
          <a:xfrm>
            <a:off x="740228" y="1811382"/>
            <a:ext cx="87942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</a:rPr>
              <a:t>Read-only template that contains a set of instructions for creating a </a:t>
            </a:r>
            <a:r>
              <a:rPr lang="en-US" sz="2400" dirty="0">
                <a:solidFill>
                  <a:srgbClr val="FF0000"/>
                </a:solidFill>
              </a:rPr>
              <a:t>container</a:t>
            </a:r>
            <a:r>
              <a:rPr lang="en-US" sz="2400" dirty="0">
                <a:solidFill>
                  <a:schemeClr val="dk1"/>
                </a:solidFill>
              </a:rPr>
              <a:t> that can run on the </a:t>
            </a:r>
            <a:r>
              <a:rPr lang="en-US" sz="2400" dirty="0">
                <a:solidFill>
                  <a:srgbClr val="FF0000"/>
                </a:solidFill>
              </a:rPr>
              <a:t>Docker</a:t>
            </a:r>
            <a:r>
              <a:rPr lang="en-US" sz="2400" dirty="0">
                <a:solidFill>
                  <a:schemeClr val="dk1"/>
                </a:solidFill>
              </a:rPr>
              <a:t> platform. </a:t>
            </a:r>
          </a:p>
        </p:txBody>
      </p:sp>
    </p:spTree>
    <p:extLst>
      <p:ext uri="{BB962C8B-B14F-4D97-AF65-F5344CB8AC3E}">
        <p14:creationId xmlns:p14="http://schemas.microsoft.com/office/powerpoint/2010/main" val="168914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0AA2BB-7795-6E62-D91D-0846236B1F6A}"/>
              </a:ext>
            </a:extLst>
          </p:cNvPr>
          <p:cNvSpPr txBox="1"/>
          <p:nvPr/>
        </p:nvSpPr>
        <p:spPr>
          <a:xfrm>
            <a:off x="972235" y="743298"/>
            <a:ext cx="6096000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/>
              <a:t>Images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dirty="0"/>
              <a:t>and layers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9ED54C-172D-5FE8-ABE7-36AA6E247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3" y="1623560"/>
            <a:ext cx="10769599" cy="479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68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0AA2BB-7795-6E62-D91D-0846236B1F6A}"/>
              </a:ext>
            </a:extLst>
          </p:cNvPr>
          <p:cNvSpPr txBox="1"/>
          <p:nvPr/>
        </p:nvSpPr>
        <p:spPr>
          <a:xfrm>
            <a:off x="1070708" y="778245"/>
            <a:ext cx="6096000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/>
              <a:t>Images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dirty="0"/>
              <a:t>and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FEA0F-792D-8947-EC06-F0492C4D6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787" y="1609271"/>
            <a:ext cx="6306070" cy="508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2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56C447-3138-B340-0E33-C389B1F62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71" y="1716854"/>
            <a:ext cx="10682991" cy="49867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DD83D1-1FCC-9C29-CD91-BD4688FC9F5C}"/>
              </a:ext>
            </a:extLst>
          </p:cNvPr>
          <p:cNvSpPr txBox="1"/>
          <p:nvPr/>
        </p:nvSpPr>
        <p:spPr>
          <a:xfrm>
            <a:off x="1748290" y="1834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Docker-hub</a:t>
            </a:r>
            <a:endParaRPr lang="ar-E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B906E-A58B-28DF-0602-3E127DE76127}"/>
              </a:ext>
            </a:extLst>
          </p:cNvPr>
          <p:cNvSpPr txBox="1"/>
          <p:nvPr/>
        </p:nvSpPr>
        <p:spPr>
          <a:xfrm>
            <a:off x="984738" y="669562"/>
            <a:ext cx="6096000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/>
              <a:t>Image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dirty="0"/>
              <a:t>Registries</a:t>
            </a:r>
          </a:p>
        </p:txBody>
      </p:sp>
    </p:spTree>
    <p:extLst>
      <p:ext uri="{BB962C8B-B14F-4D97-AF65-F5344CB8AC3E}">
        <p14:creationId xmlns:p14="http://schemas.microsoft.com/office/powerpoint/2010/main" val="359295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414A10-9580-1D8E-1D0C-3677E9B654CE}"/>
              </a:ext>
            </a:extLst>
          </p:cNvPr>
          <p:cNvSpPr txBox="1"/>
          <p:nvPr/>
        </p:nvSpPr>
        <p:spPr>
          <a:xfrm>
            <a:off x="812801" y="920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G" sz="3600" dirty="0"/>
              <a:t>Docker</a:t>
            </a:r>
            <a:r>
              <a:rPr lang="en-EG" sz="1800" dirty="0"/>
              <a:t> </a:t>
            </a:r>
            <a:r>
              <a:rPr lang="en-EG" sz="3600" dirty="0"/>
              <a:t>Containers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797D49-7742-E5F1-7320-9BFE1CAD7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8529"/>
            <a:ext cx="12192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0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958AED-068D-B086-70AD-0BF3C7CBCB58}"/>
              </a:ext>
            </a:extLst>
          </p:cNvPr>
          <p:cNvSpPr txBox="1"/>
          <p:nvPr/>
        </p:nvSpPr>
        <p:spPr>
          <a:xfrm>
            <a:off x="333829" y="1402133"/>
            <a:ext cx="11858171" cy="523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 fontAlgn="base">
              <a:lnSpc>
                <a:spcPct val="107000"/>
              </a:lnSpc>
              <a:spcBef>
                <a:spcPts val="0"/>
              </a:spcBef>
              <a:spcAft>
                <a:spcPts val="20"/>
              </a:spcAft>
              <a:buClr>
                <a:srgbClr val="FFFFFF"/>
              </a:buClr>
              <a:buSzPts val="2200"/>
            </a:pPr>
            <a:r>
              <a:rPr lang="en-US" sz="3200" u="none" strike="noStrike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endParaRPr lang="en-US" sz="1400" u="none" strike="noStrike" kern="100" dirty="0">
              <a:solidFill>
                <a:srgbClr val="FF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container will always restart if the </a:t>
            </a:r>
            <a:r>
              <a:rPr lang="en-US" sz="2400" dirty="0">
                <a:solidFill>
                  <a:srgbClr val="FF0000"/>
                </a:solidFill>
              </a:rPr>
              <a:t>main process </a:t>
            </a:r>
            <a:r>
              <a:rPr lang="en-US" sz="2400" dirty="0">
                <a:solidFill>
                  <a:schemeClr val="dk1"/>
                </a:solidFill>
              </a:rPr>
              <a:t>is </a:t>
            </a:r>
            <a:r>
              <a:rPr lang="en-US" sz="2400" dirty="0">
                <a:solidFill>
                  <a:srgbClr val="FF0000"/>
                </a:solidFill>
              </a:rPr>
              <a:t>killed</a:t>
            </a:r>
            <a:r>
              <a:rPr lang="en-US" sz="2400" dirty="0">
                <a:solidFill>
                  <a:schemeClr val="dk1"/>
                </a:solidFill>
              </a:rPr>
              <a:t> from inside the container but won't restart if you manually stopped it. Will restart if the Docker </a:t>
            </a:r>
            <a:r>
              <a:rPr lang="en-US" sz="2400" dirty="0">
                <a:solidFill>
                  <a:srgbClr val="FF0000"/>
                </a:solidFill>
              </a:rPr>
              <a:t>daemon</a:t>
            </a:r>
            <a:r>
              <a:rPr lang="en-US" sz="2400" dirty="0">
                <a:solidFill>
                  <a:schemeClr val="dk1"/>
                </a:solidFill>
              </a:rPr>
              <a:t> restarts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3200" kern="1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unless-stopped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container will always restart if the </a:t>
            </a:r>
            <a:r>
              <a:rPr lang="en-US" sz="2400" dirty="0">
                <a:solidFill>
                  <a:srgbClr val="FF0000"/>
                </a:solidFill>
              </a:rPr>
              <a:t>main process </a:t>
            </a:r>
            <a:r>
              <a:rPr lang="en-US" sz="2400" dirty="0">
                <a:solidFill>
                  <a:schemeClr val="dk1"/>
                </a:solidFill>
              </a:rPr>
              <a:t>is </a:t>
            </a:r>
            <a:r>
              <a:rPr lang="en-US" sz="2400" dirty="0">
                <a:solidFill>
                  <a:srgbClr val="FF0000"/>
                </a:solidFill>
              </a:rPr>
              <a:t>killed</a:t>
            </a:r>
            <a:r>
              <a:rPr lang="en-US" sz="2400" dirty="0">
                <a:solidFill>
                  <a:schemeClr val="dk1"/>
                </a:solidFill>
              </a:rPr>
              <a:t> from inside the container but won't restart if you manually stopped it. However will NOT restart if the Docker </a:t>
            </a:r>
            <a:r>
              <a:rPr lang="en-US" sz="2400" dirty="0">
                <a:solidFill>
                  <a:srgbClr val="FF0000"/>
                </a:solidFill>
              </a:rPr>
              <a:t>daemon</a:t>
            </a:r>
            <a:r>
              <a:rPr lang="en-US" sz="2400" dirty="0">
                <a:solidFill>
                  <a:schemeClr val="dk1"/>
                </a:solidFill>
              </a:rPr>
              <a:t> restarts.</a:t>
            </a:r>
          </a:p>
          <a:p>
            <a:pPr lvl="1"/>
            <a:endParaRPr 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R="0" lvl="0" rtl="0" fontAlgn="base">
              <a:lnSpc>
                <a:spcPct val="107000"/>
              </a:lnSpc>
              <a:spcBef>
                <a:spcPts val="0"/>
              </a:spcBef>
              <a:spcAft>
                <a:spcPts val="20"/>
              </a:spcAft>
              <a:buClr>
                <a:srgbClr val="FFFFFF"/>
              </a:buClr>
              <a:buSzPts val="2200"/>
            </a:pPr>
            <a:r>
              <a:rPr lang="en-US" sz="3200" kern="1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on-failure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container will always restart if the </a:t>
            </a:r>
            <a:r>
              <a:rPr lang="en-US" sz="2400" dirty="0">
                <a:solidFill>
                  <a:srgbClr val="FF0000"/>
                </a:solidFill>
              </a:rPr>
              <a:t>main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process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exits</a:t>
            </a:r>
            <a:r>
              <a:rPr lang="en-US" sz="2400" dirty="0">
                <a:solidFill>
                  <a:schemeClr val="dk1"/>
                </a:solidFill>
              </a:rPr>
              <a:t> with non-zero code (i.e. with error) but won't restart if you manually stopped it. However will NOT restart if the Docker </a:t>
            </a:r>
            <a:r>
              <a:rPr lang="en-US" sz="2400" dirty="0">
                <a:solidFill>
                  <a:srgbClr val="FF0000"/>
                </a:solidFill>
              </a:rPr>
              <a:t>daemon</a:t>
            </a:r>
            <a:r>
              <a:rPr lang="en-US" sz="2400" dirty="0">
                <a:solidFill>
                  <a:schemeClr val="dk1"/>
                </a:solidFill>
              </a:rPr>
              <a:t> restarts</a:t>
            </a:r>
            <a:endParaRPr lang="ar-EG" sz="2400" dirty="0">
              <a:solidFill>
                <a:schemeClr val="dk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D9076-65C2-62CD-8320-393F66D77988}"/>
              </a:ext>
            </a:extLst>
          </p:cNvPr>
          <p:cNvSpPr txBox="1"/>
          <p:nvPr/>
        </p:nvSpPr>
        <p:spPr>
          <a:xfrm>
            <a:off x="137885" y="468868"/>
            <a:ext cx="9136743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4850" marR="0">
              <a:lnSpc>
                <a:spcPct val="107000"/>
              </a:lnSpc>
              <a:spcBef>
                <a:spcPts val="0"/>
              </a:spcBef>
              <a:spcAft>
                <a:spcPts val="3020"/>
              </a:spcAft>
            </a:pPr>
            <a:r>
              <a:rPr lang="en-US" sz="3600" dirty="0"/>
              <a:t>Self-healing containers with restart policies</a:t>
            </a:r>
          </a:p>
        </p:txBody>
      </p:sp>
    </p:spTree>
    <p:extLst>
      <p:ext uri="{BB962C8B-B14F-4D97-AF65-F5344CB8AC3E}">
        <p14:creationId xmlns:p14="http://schemas.microsoft.com/office/powerpoint/2010/main" val="345939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0EB889-7626-2A46-543F-EAD02344F366}"/>
              </a:ext>
            </a:extLst>
          </p:cNvPr>
          <p:cNvSpPr txBox="1"/>
          <p:nvPr/>
        </p:nvSpPr>
        <p:spPr>
          <a:xfrm>
            <a:off x="783771" y="7782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Install</a:t>
            </a:r>
            <a:r>
              <a:rPr lang="en-US" sz="1800" dirty="0"/>
              <a:t> </a:t>
            </a:r>
            <a:r>
              <a:rPr lang="en-US" sz="3600" dirty="0"/>
              <a:t>Docker</a:t>
            </a:r>
            <a:r>
              <a:rPr lang="en-US" sz="1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C10D1-F710-68C8-B4A3-6F66EFF4BD1B}"/>
              </a:ext>
            </a:extLst>
          </p:cNvPr>
          <p:cNvSpPr txBox="1"/>
          <p:nvPr/>
        </p:nvSpPr>
        <p:spPr>
          <a:xfrm>
            <a:off x="986972" y="23190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Install Docker</a:t>
            </a:r>
            <a:endParaRPr lang="ar-EG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EA945-1265-6755-6432-5861201E3660}"/>
              </a:ext>
            </a:extLst>
          </p:cNvPr>
          <p:cNvSpPr txBox="1"/>
          <p:nvPr/>
        </p:nvSpPr>
        <p:spPr>
          <a:xfrm>
            <a:off x="986972" y="29089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Docker-hub</a:t>
            </a:r>
            <a:endParaRPr lang="ar-EG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4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E3B267-8BCB-4811-B78F-7D8E570681EA}"/>
              </a:ext>
            </a:extLst>
          </p:cNvPr>
          <p:cNvSpPr txBox="1"/>
          <p:nvPr/>
        </p:nvSpPr>
        <p:spPr>
          <a:xfrm>
            <a:off x="624114" y="7782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I</a:t>
            </a:r>
            <a:r>
              <a:rPr lang="en-EG" sz="3600" dirty="0"/>
              <a:t>mages</a:t>
            </a:r>
            <a:r>
              <a:rPr lang="en-EG" sz="1800" dirty="0"/>
              <a:t> </a:t>
            </a:r>
            <a:r>
              <a:rPr lang="en-US" sz="3600" dirty="0"/>
              <a:t>C</a:t>
            </a:r>
            <a:r>
              <a:rPr lang="en-EG" sz="3600" dirty="0"/>
              <a:t>ommands</a:t>
            </a:r>
            <a:endParaRPr lang="en-US" sz="3600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F6E74367-1520-A1F8-D1DD-72DA9CF0666B}"/>
              </a:ext>
            </a:extLst>
          </p:cNvPr>
          <p:cNvSpPr txBox="1">
            <a:spLocks/>
          </p:cNvSpPr>
          <p:nvPr/>
        </p:nvSpPr>
        <p:spPr>
          <a:xfrm>
            <a:off x="511572" y="2499328"/>
            <a:ext cx="11408229" cy="3580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images</a:t>
            </a:r>
            <a:r>
              <a:rPr lang="en-US" dirty="0"/>
              <a:t> shows all images.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</a:t>
            </a:r>
            <a:r>
              <a:rPr lang="en-US" u="sng" dirty="0" err="1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removes an image.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</a:rPr>
              <a:t>docker search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image search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history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shows history of image.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tag</a:t>
            </a:r>
            <a:r>
              <a:rPr lang="en-US" dirty="0"/>
              <a:t> tags an image to a name (local or registry).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43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E3B267-8BCB-4811-B78F-7D8E570681EA}"/>
              </a:ext>
            </a:extLst>
          </p:cNvPr>
          <p:cNvSpPr txBox="1"/>
          <p:nvPr/>
        </p:nvSpPr>
        <p:spPr>
          <a:xfrm>
            <a:off x="624114" y="7782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I</a:t>
            </a:r>
            <a:r>
              <a:rPr lang="en-EG" sz="3600" dirty="0"/>
              <a:t>mages</a:t>
            </a:r>
            <a:r>
              <a:rPr lang="en-EG" sz="1800" dirty="0"/>
              <a:t> </a:t>
            </a:r>
            <a:r>
              <a:rPr lang="en-US" sz="3600" dirty="0"/>
              <a:t>C</a:t>
            </a:r>
            <a:r>
              <a:rPr lang="en-EG" sz="3600" dirty="0"/>
              <a:t>ommands</a:t>
            </a:r>
            <a:r>
              <a:rPr lang="en-US" sz="3600" dirty="0"/>
              <a:t> cont’d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F6E74367-1520-A1F8-D1DD-72DA9CF0666B}"/>
              </a:ext>
            </a:extLst>
          </p:cNvPr>
          <p:cNvSpPr txBox="1">
            <a:spLocks/>
          </p:cNvSpPr>
          <p:nvPr/>
        </p:nvSpPr>
        <p:spPr>
          <a:xfrm>
            <a:off x="497505" y="2084871"/>
            <a:ext cx="11408229" cy="43575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commit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creates image from a container, pausing it temporarily if it is running.</a:t>
            </a:r>
          </a:p>
          <a:p>
            <a:pPr algn="l" fontAlgn="base"/>
            <a:r>
              <a:rPr lang="en-US" dirty="0"/>
              <a:t>Ex: docker commit [OPTIONS] CONTAINER_ID [REPOSITORY[:TAG]]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save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saves </a:t>
            </a:r>
            <a:r>
              <a:rPr lang="en-US" dirty="0">
                <a:solidFill>
                  <a:srgbClr val="FF0000"/>
                </a:solidFill>
              </a:rPr>
              <a:t>an image to a tar archive stream </a:t>
            </a:r>
            <a:r>
              <a:rPr lang="en-US" dirty="0"/>
              <a:t>to STDOUT with all parent layers, tags &amp; versions </a:t>
            </a:r>
          </a:p>
          <a:p>
            <a:pPr algn="l" fontAlgn="base"/>
            <a:r>
              <a:rPr lang="en-US" dirty="0"/>
              <a:t>Ex : </a:t>
            </a:r>
            <a:r>
              <a:rPr lang="en-US" dirty="0" err="1"/>
              <a:t>sudo</a:t>
            </a:r>
            <a:r>
              <a:rPr lang="en-US" dirty="0"/>
              <a:t> docker save busybox-1 &gt; /home/save.tar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u="sng" dirty="0">
                <a:solidFill>
                  <a:srgbClr val="0563C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</a:t>
            </a:r>
            <a:r>
              <a:rPr lang="en-US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load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loads an </a:t>
            </a:r>
            <a:r>
              <a:rPr lang="en-US" dirty="0">
                <a:solidFill>
                  <a:srgbClr val="FF0000"/>
                </a:solidFill>
              </a:rPr>
              <a:t>image from a tar archive </a:t>
            </a:r>
            <a:r>
              <a:rPr lang="en-US" dirty="0"/>
              <a:t>as STDIN, including images and tags (as of 0.7).</a:t>
            </a:r>
          </a:p>
          <a:p>
            <a:pPr algn="l" fontAlgn="base"/>
            <a:r>
              <a:rPr lang="en-US" sz="2800" dirty="0"/>
              <a:t>N.B: All the above commands will require the IMAGE_ID</a:t>
            </a:r>
            <a:br>
              <a:rPr lang="en-US" dirty="0"/>
            </a:b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4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9F6D3C-129F-9D42-56FE-8B4D69C29720}"/>
              </a:ext>
            </a:extLst>
          </p:cNvPr>
          <p:cNvSpPr txBox="1"/>
          <p:nvPr/>
        </p:nvSpPr>
        <p:spPr>
          <a:xfrm>
            <a:off x="624170" y="728365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 C</a:t>
            </a:r>
            <a:r>
              <a:rPr lang="en-EG" sz="3600" dirty="0"/>
              <a:t>ontainers</a:t>
            </a:r>
            <a:r>
              <a:rPr lang="en-EG" sz="1800" dirty="0"/>
              <a:t> </a:t>
            </a:r>
            <a:r>
              <a:rPr lang="en-US" sz="3600" dirty="0"/>
              <a:t>C</a:t>
            </a:r>
            <a:r>
              <a:rPr lang="en-EG" sz="3600" dirty="0"/>
              <a:t>ommands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8F1C231C-5217-6043-3CB7-7DC6EBD5429A}"/>
              </a:ext>
            </a:extLst>
          </p:cNvPr>
          <p:cNvSpPr txBox="1">
            <a:spLocks/>
          </p:cNvSpPr>
          <p:nvPr/>
        </p:nvSpPr>
        <p:spPr>
          <a:xfrm>
            <a:off x="798341" y="1801441"/>
            <a:ext cx="10764795" cy="4771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start/stop/restart  </a:t>
            </a:r>
            <a:r>
              <a:rPr lang="en-US" dirty="0"/>
              <a:t>starts/stops/restarts a container.</a:t>
            </a:r>
            <a:endParaRPr lang="en-US" u="sng" dirty="0">
              <a:solidFill>
                <a:srgbClr val="0070C0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</a:t>
            </a:r>
            <a:r>
              <a:rPr lang="en-US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</a:t>
            </a:r>
            <a:r>
              <a:rPr lang="en-US" dirty="0"/>
              <a:t> creates and </a:t>
            </a:r>
            <a:r>
              <a:rPr lang="en-US" dirty="0">
                <a:solidFill>
                  <a:srgbClr val="FF0000"/>
                </a:solidFill>
              </a:rPr>
              <a:t>starts a container in one operation</a:t>
            </a: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  <a:p>
            <a:pPr algn="l" fontAlgn="base">
              <a:lnSpc>
                <a:spcPct val="150000"/>
              </a:lnSpc>
            </a:pPr>
            <a:r>
              <a:rPr lang="en-US" dirty="0"/>
              <a:t>Ex: docker run -p $HOSTPORT:$CONTAINERPORT --name CONTAINER  some image</a:t>
            </a:r>
          </a:p>
          <a:p>
            <a:pPr algn="l" fontAlgn="base">
              <a:lnSpc>
                <a:spcPct val="150000"/>
              </a:lnSpc>
            </a:pPr>
            <a:r>
              <a:rPr lang="en-US" dirty="0"/>
              <a:t>Ex: </a:t>
            </a:r>
            <a:r>
              <a:rPr lang="en-US" dirty="0">
                <a:solidFill>
                  <a:srgbClr val="FF0000"/>
                </a:solidFill>
              </a:rPr>
              <a:t>docker run –it IMAGE bash   (it will open the container )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</a:t>
            </a:r>
            <a:r>
              <a:rPr lang="en-US" u="sng" dirty="0" err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shows running containers.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</a:rPr>
              <a:t>docker </a:t>
            </a:r>
            <a:r>
              <a:rPr lang="en-US" u="sng" dirty="0" err="1">
                <a:solidFill>
                  <a:srgbClr val="0070C0"/>
                </a:solidFill>
              </a:rPr>
              <a:t>ps</a:t>
            </a:r>
            <a:r>
              <a:rPr lang="en-US" u="sng" dirty="0">
                <a:solidFill>
                  <a:srgbClr val="0070C0"/>
                </a:solidFill>
              </a:rPr>
              <a:t> -a</a:t>
            </a:r>
            <a:r>
              <a:rPr lang="en-US" dirty="0"/>
              <a:t> shows running and stopped containers.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logs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gets logs from container.</a:t>
            </a:r>
          </a:p>
          <a:p>
            <a:pPr algn="l" fontAlgn="base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896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9F6D3C-129F-9D42-56FE-8B4D69C29720}"/>
              </a:ext>
            </a:extLst>
          </p:cNvPr>
          <p:cNvSpPr txBox="1"/>
          <p:nvPr/>
        </p:nvSpPr>
        <p:spPr>
          <a:xfrm>
            <a:off x="568460" y="755802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 C</a:t>
            </a:r>
            <a:r>
              <a:rPr lang="en-EG" sz="3600" dirty="0"/>
              <a:t>ontainers</a:t>
            </a:r>
            <a:r>
              <a:rPr lang="en-EG" sz="1800" dirty="0"/>
              <a:t> </a:t>
            </a:r>
            <a:r>
              <a:rPr lang="en-US" sz="3600" dirty="0"/>
              <a:t>C</a:t>
            </a:r>
            <a:r>
              <a:rPr lang="en-EG" sz="3600" dirty="0"/>
              <a:t>ommands</a:t>
            </a:r>
            <a:r>
              <a:rPr lang="en-US" sz="3600" dirty="0"/>
              <a:t> cont’d</a:t>
            </a:r>
            <a:endParaRPr lang="en-EG" sz="3600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8F1C231C-5217-6043-3CB7-7DC6EBD5429A}"/>
              </a:ext>
            </a:extLst>
          </p:cNvPr>
          <p:cNvSpPr txBox="1">
            <a:spLocks/>
          </p:cNvSpPr>
          <p:nvPr/>
        </p:nvSpPr>
        <p:spPr>
          <a:xfrm>
            <a:off x="713602" y="1832032"/>
            <a:ext cx="10764795" cy="4409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inspect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looks at all the info on a container (including IP address).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events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gets events from container.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port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shows public facing port of container.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top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shows running processes in container.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stats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shows containers' resource usage statistics.</a:t>
            </a:r>
          </a:p>
          <a:p>
            <a:pPr algn="l" fontAlgn="base">
              <a:lnSpc>
                <a:spcPct val="150000"/>
              </a:lnSpc>
            </a:pPr>
            <a:r>
              <a:rPr lang="en-US" u="sng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diff</a:t>
            </a:r>
            <a:r>
              <a:rPr lang="en-US" dirty="0"/>
              <a:t> shows changed files in the container's FS.</a:t>
            </a:r>
            <a:endParaRPr lang="en-US" sz="1800" dirty="0"/>
          </a:p>
          <a:p>
            <a:pPr algn="l" fontAlgn="base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8533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9F6D3C-129F-9D42-56FE-8B4D69C29720}"/>
              </a:ext>
            </a:extLst>
          </p:cNvPr>
          <p:cNvSpPr txBox="1"/>
          <p:nvPr/>
        </p:nvSpPr>
        <p:spPr>
          <a:xfrm>
            <a:off x="379774" y="755802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 C</a:t>
            </a:r>
            <a:r>
              <a:rPr lang="en-EG" sz="3600" dirty="0"/>
              <a:t>ontainers</a:t>
            </a:r>
            <a:r>
              <a:rPr lang="en-EG" sz="1800" dirty="0"/>
              <a:t> </a:t>
            </a:r>
            <a:r>
              <a:rPr lang="en-US" sz="3600" dirty="0"/>
              <a:t>C</a:t>
            </a:r>
            <a:r>
              <a:rPr lang="en-EG" sz="3600" dirty="0"/>
              <a:t>ommands</a:t>
            </a:r>
            <a:r>
              <a:rPr lang="en-US" sz="3600" dirty="0"/>
              <a:t> cont’d</a:t>
            </a:r>
            <a:endParaRPr lang="en-EG" sz="3600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8F1C231C-5217-6043-3CB7-7DC6EBD5429A}"/>
              </a:ext>
            </a:extLst>
          </p:cNvPr>
          <p:cNvSpPr txBox="1">
            <a:spLocks/>
          </p:cNvSpPr>
          <p:nvPr/>
        </p:nvSpPr>
        <p:spPr>
          <a:xfrm>
            <a:off x="582974" y="1742988"/>
            <a:ext cx="10764795" cy="4960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lnSpc>
                <a:spcPct val="100000"/>
              </a:lnSpc>
            </a:pPr>
            <a:r>
              <a:rPr lang="en-US" u="sng" dirty="0">
                <a:solidFill>
                  <a:srgbClr val="0070C0"/>
                </a:solidFill>
              </a:rPr>
              <a:t>docker export </a:t>
            </a:r>
            <a:r>
              <a:rPr lang="en-US" dirty="0"/>
              <a:t>– Exports a container’s </a:t>
            </a:r>
            <a:r>
              <a:rPr lang="en-US" dirty="0">
                <a:solidFill>
                  <a:srgbClr val="FF0000"/>
                </a:solidFill>
              </a:rPr>
              <a:t>filesystem as a tar archive</a:t>
            </a:r>
            <a:endParaRPr lang="en-US" b="1" dirty="0">
              <a:solidFill>
                <a:srgbClr val="FF0000"/>
              </a:solidFill>
            </a:endParaRPr>
          </a:p>
          <a:p>
            <a:pPr algn="l" fontAlgn="base">
              <a:lnSpc>
                <a:spcPct val="100000"/>
              </a:lnSpc>
            </a:pPr>
            <a:r>
              <a:rPr lang="en-US" dirty="0"/>
              <a:t>Ex:  docker export &lt;CONTAINER ID&gt; &gt; /home/export.tar</a:t>
            </a:r>
          </a:p>
          <a:p>
            <a:pPr algn="l" fontAlgn="base">
              <a:lnSpc>
                <a:spcPct val="100000"/>
              </a:lnSpc>
            </a:pPr>
            <a:r>
              <a:rPr lang="en-US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import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creates an </a:t>
            </a:r>
            <a:r>
              <a:rPr lang="en-US" dirty="0">
                <a:solidFill>
                  <a:srgbClr val="FF0000"/>
                </a:solidFill>
              </a:rPr>
              <a:t>image from a </a:t>
            </a:r>
            <a:r>
              <a:rPr lang="en-US" dirty="0" err="1">
                <a:solidFill>
                  <a:srgbClr val="FF0000"/>
                </a:solidFill>
              </a:rPr>
              <a:t>tarball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algn="l" fontAlgn="base"/>
            <a:r>
              <a:rPr lang="en-US" sz="2400" u="sng" dirty="0">
                <a:solidFill>
                  <a:srgbClr val="0070C0"/>
                </a:solidFill>
              </a:rPr>
              <a:t>docker cp</a:t>
            </a:r>
            <a:r>
              <a:rPr lang="en-US" sz="2400" dirty="0"/>
              <a:t> copies local file to container and vice versa.</a:t>
            </a:r>
          </a:p>
          <a:p>
            <a:pPr marL="0" indent="0" algn="l" fontAlgn="base">
              <a:buNone/>
            </a:pPr>
            <a:r>
              <a:rPr lang="en-US" sz="2400" dirty="0"/>
              <a:t>Ex: docker cp </a:t>
            </a:r>
            <a:r>
              <a:rPr lang="en-US" sz="2400" dirty="0">
                <a:effectLst/>
              </a:rPr>
              <a:t>[</a:t>
            </a:r>
            <a:r>
              <a:rPr lang="en-US" sz="2400" dirty="0"/>
              <a:t>OPTIONS] CONTAINER_ID:SRC_PATH DEST_PATH</a:t>
            </a:r>
          </a:p>
          <a:p>
            <a:pPr marL="0" indent="0" algn="l" fontAlgn="base">
              <a:buNone/>
            </a:pPr>
            <a:r>
              <a:rPr lang="en-US" sz="2400" dirty="0"/>
              <a:t>Ex: docker cp </a:t>
            </a:r>
            <a:r>
              <a:rPr lang="en-US" sz="2400" dirty="0">
                <a:effectLst/>
              </a:rPr>
              <a:t>[</a:t>
            </a:r>
            <a:r>
              <a:rPr lang="en-US" sz="2400" dirty="0"/>
              <a:t>OPTIONS] SRC_PATH CONTAINER_ID:DEST_PATH</a:t>
            </a:r>
          </a:p>
          <a:p>
            <a:pPr algn="l" fontAlgn="base"/>
            <a:r>
              <a:rPr lang="en-US" sz="2400" u="sng" dirty="0">
                <a:solidFill>
                  <a:srgbClr val="0070C0"/>
                </a:solidFill>
              </a:rPr>
              <a:t>docker exec</a:t>
            </a:r>
            <a:r>
              <a:rPr lang="en-US" sz="2400" dirty="0"/>
              <a:t> to execute a command inside a container.</a:t>
            </a:r>
          </a:p>
          <a:p>
            <a:pPr marL="0" indent="0" algn="l" fontAlgn="base">
              <a:buNone/>
            </a:pPr>
            <a:r>
              <a:rPr lang="en-US" sz="2400" dirty="0"/>
              <a:t>Ex: docker exec –it CONTAINER_ID bash </a:t>
            </a:r>
          </a:p>
          <a:p>
            <a:pPr marL="0" indent="0" algn="l" fontAlgn="base">
              <a:buNone/>
            </a:pPr>
            <a:r>
              <a:rPr lang="en-US" sz="2400" dirty="0"/>
              <a:t>N.B: All the above commands will require the CONTAINER_ID</a:t>
            </a:r>
          </a:p>
          <a:p>
            <a:pPr marL="0" indent="0" fontAlgn="base">
              <a:buNone/>
            </a:pPr>
            <a:endParaRPr lang="en-US" sz="2400" dirty="0"/>
          </a:p>
          <a:p>
            <a:pPr algn="l" fontAlgn="base">
              <a:lnSpc>
                <a:spcPct val="150000"/>
              </a:lnSpc>
            </a:pPr>
            <a:endParaRPr lang="en-US" dirty="0">
              <a:solidFill>
                <a:srgbClr val="FF0000"/>
              </a:solidFill>
            </a:endParaRPr>
          </a:p>
          <a:p>
            <a:pPr algn="l" fontAlgn="base"/>
            <a:endParaRPr lang="en-US" sz="1800" dirty="0"/>
          </a:p>
          <a:p>
            <a:pPr algn="l" fontAlgn="base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6029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EFD69E-12B8-DB55-BFAC-76CDB6FDC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43" y="38737"/>
            <a:ext cx="11292114" cy="68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AF725D-CD85-7FB5-F56D-96B0CFB08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3" y="123371"/>
            <a:ext cx="11117944" cy="673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0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AEC61A-19B5-6DEF-A516-4E1E80C1FC86}"/>
              </a:ext>
            </a:extLst>
          </p:cNvPr>
          <p:cNvSpPr txBox="1"/>
          <p:nvPr/>
        </p:nvSpPr>
        <p:spPr>
          <a:xfrm>
            <a:off x="330201" y="7782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r>
              <a:rPr lang="en-US" sz="3600" dirty="0"/>
              <a:t>Docker file</a:t>
            </a:r>
            <a:r>
              <a:rPr lang="en-US" sz="1800" dirty="0"/>
              <a:t> </a:t>
            </a:r>
            <a:endParaRPr lang="en-US" sz="3600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4A8EA95-567D-43D6-2F20-F6CC1A8D08CF}"/>
              </a:ext>
            </a:extLst>
          </p:cNvPr>
          <p:cNvSpPr txBox="1">
            <a:spLocks/>
          </p:cNvSpPr>
          <p:nvPr/>
        </p:nvSpPr>
        <p:spPr>
          <a:xfrm>
            <a:off x="330200" y="2293711"/>
            <a:ext cx="11556999" cy="3062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dirty="0" err="1">
                <a:solidFill>
                  <a:srgbClr val="FF0000"/>
                </a:solidFill>
              </a:rPr>
              <a:t>Dockerfile</a:t>
            </a:r>
            <a:r>
              <a:rPr lang="en-US" dirty="0"/>
              <a:t> is a script that contains instructions for building a customized docker image.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dirty="0"/>
              <a:t>Each instruction in a </a:t>
            </a:r>
            <a:r>
              <a:rPr lang="en-US" dirty="0" err="1"/>
              <a:t>Dockerfile</a:t>
            </a:r>
            <a:r>
              <a:rPr lang="en-US" dirty="0"/>
              <a:t> creates a new layer in the image, and the final image is composed of all the layers stacked on top of each other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It includes instructions for installing dependencies, copying files, setting environment variables, and configuring the container</a:t>
            </a:r>
            <a:endParaRPr lang="en-US" dirty="0"/>
          </a:p>
          <a:p>
            <a:pPr algn="l" fontAlgn="base"/>
            <a:endParaRPr lang="en-US" dirty="0"/>
          </a:p>
          <a:p>
            <a:pPr algn="l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6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AEC61A-19B5-6DEF-A516-4E1E80C1FC86}"/>
              </a:ext>
            </a:extLst>
          </p:cNvPr>
          <p:cNvSpPr txBox="1"/>
          <p:nvPr/>
        </p:nvSpPr>
        <p:spPr>
          <a:xfrm>
            <a:off x="330201" y="4550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r>
              <a:rPr lang="en-US" sz="3600" dirty="0"/>
              <a:t>Docker file</a:t>
            </a:r>
            <a:r>
              <a:rPr lang="en-US" sz="1800" dirty="0"/>
              <a:t> 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848ED8-6F0C-D64C-BF11-0E1DA0E5E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95" y="1334723"/>
            <a:ext cx="10954610" cy="552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8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AEC61A-19B5-6DEF-A516-4E1E80C1FC86}"/>
              </a:ext>
            </a:extLst>
          </p:cNvPr>
          <p:cNvSpPr txBox="1"/>
          <p:nvPr/>
        </p:nvSpPr>
        <p:spPr>
          <a:xfrm>
            <a:off x="330201" y="7782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r>
              <a:rPr lang="en-US" sz="3600" dirty="0" err="1"/>
              <a:t>Dockerfile</a:t>
            </a:r>
            <a:r>
              <a:rPr lang="en-US" sz="1800" dirty="0"/>
              <a:t> </a:t>
            </a:r>
            <a:r>
              <a:rPr lang="en-US" sz="3600" dirty="0"/>
              <a:t>basics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4A8EA95-567D-43D6-2F20-F6CC1A8D08CF}"/>
              </a:ext>
            </a:extLst>
          </p:cNvPr>
          <p:cNvSpPr txBox="1">
            <a:spLocks/>
          </p:cNvSpPr>
          <p:nvPr/>
        </p:nvSpPr>
        <p:spPr>
          <a:xfrm>
            <a:off x="330201" y="1962078"/>
            <a:ext cx="11034486" cy="4436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Sets the</a:t>
            </a:r>
            <a:r>
              <a:rPr lang="en-US" sz="1800" dirty="0"/>
              <a:t> </a:t>
            </a:r>
            <a:r>
              <a:rPr lang="en-US" dirty="0"/>
              <a:t>Base </a:t>
            </a:r>
            <a:r>
              <a:rPr lang="en-US" dirty="0">
                <a:solidFill>
                  <a:srgbClr val="FF0000"/>
                </a:solidFill>
              </a:rPr>
              <a:t>Image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for subsequent instructions, you should write this </a:t>
            </a:r>
            <a:r>
              <a:rPr lang="en-US" dirty="0">
                <a:solidFill>
                  <a:srgbClr val="FF0000"/>
                </a:solidFill>
              </a:rPr>
              <a:t>command at least in </a:t>
            </a:r>
            <a:r>
              <a:rPr lang="en-US" dirty="0" err="1">
                <a:solidFill>
                  <a:srgbClr val="FF0000"/>
                </a:solidFill>
              </a:rPr>
              <a:t>Dockerfile</a:t>
            </a:r>
            <a:endParaRPr lang="en-US" dirty="0">
              <a:solidFill>
                <a:srgbClr val="FF0000"/>
              </a:solidFill>
            </a:endParaRPr>
          </a:p>
          <a:p>
            <a:pPr algn="l" fontAlgn="base"/>
            <a:endParaRPr lang="en-US" dirty="0">
              <a:solidFill>
                <a:srgbClr val="FF0000"/>
              </a:solidFill>
            </a:endParaRPr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execute any commands in a new layer on top of the current image and commit the results. (Used mainly for installing packages)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CMD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provide defaults for </a:t>
            </a:r>
            <a:r>
              <a:rPr lang="en-US" dirty="0">
                <a:solidFill>
                  <a:srgbClr val="FF0000"/>
                </a:solidFill>
              </a:rPr>
              <a:t>executing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command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inside a </a:t>
            </a:r>
            <a:r>
              <a:rPr lang="en-US" dirty="0">
                <a:solidFill>
                  <a:srgbClr val="FF0000"/>
                </a:solidFill>
              </a:rPr>
              <a:t>container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  <a:p>
            <a:pPr algn="l" fontAlgn="base"/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EXPOS</a:t>
            </a:r>
            <a:r>
              <a:rPr lang="en-US" u="sng" dirty="0">
                <a:solidFill>
                  <a:srgbClr val="0563C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informs Docker that the container listens on the specified network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ports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at runtime. NOTE: does not actually make ports accessible.</a:t>
            </a:r>
          </a:p>
        </p:txBody>
      </p:sp>
    </p:spTree>
    <p:extLst>
      <p:ext uri="{BB962C8B-B14F-4D97-AF65-F5344CB8AC3E}">
        <p14:creationId xmlns:p14="http://schemas.microsoft.com/office/powerpoint/2010/main" val="355003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AEC61A-19B5-6DEF-A516-4E1E80C1FC86}"/>
              </a:ext>
            </a:extLst>
          </p:cNvPr>
          <p:cNvSpPr txBox="1"/>
          <p:nvPr/>
        </p:nvSpPr>
        <p:spPr>
          <a:xfrm>
            <a:off x="302986" y="7352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r>
              <a:rPr lang="en-US" sz="3600" dirty="0" err="1"/>
              <a:t>Dockerfile</a:t>
            </a:r>
            <a:r>
              <a:rPr lang="en-US" sz="1800" dirty="0"/>
              <a:t> </a:t>
            </a:r>
            <a:r>
              <a:rPr lang="en-US" sz="3600" dirty="0"/>
              <a:t>basics cont’d</a:t>
            </a:r>
            <a:r>
              <a:rPr lang="en-US" dirty="0"/>
              <a:t> </a:t>
            </a:r>
            <a:endParaRPr lang="en-US" sz="3600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4A8EA95-567D-43D6-2F20-F6CC1A8D08CF}"/>
              </a:ext>
            </a:extLst>
          </p:cNvPr>
          <p:cNvSpPr txBox="1">
            <a:spLocks/>
          </p:cNvSpPr>
          <p:nvPr/>
        </p:nvSpPr>
        <p:spPr>
          <a:xfrm>
            <a:off x="302986" y="2007363"/>
            <a:ext cx="11586028" cy="3841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u="sng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en-US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sets environment variable.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copies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new files or directories to container</a:t>
            </a:r>
            <a:r>
              <a:rPr lang="en-US" dirty="0">
                <a:solidFill>
                  <a:srgbClr val="FFFFFF"/>
                </a:solidFill>
              </a:rPr>
              <a:t>. </a:t>
            </a:r>
            <a:r>
              <a:rPr lang="en-US" dirty="0"/>
              <a:t>Note that this only copies as root, so you have to </a:t>
            </a:r>
            <a:r>
              <a:rPr lang="en-US" dirty="0" err="1"/>
              <a:t>chown</a:t>
            </a:r>
            <a:r>
              <a:rPr lang="en-US" dirty="0"/>
              <a:t> manually regardless of your USER / WORKDIR setting. See </a:t>
            </a:r>
            <a:r>
              <a:rPr lang="en-US" u="sng" dirty="0">
                <a:solidFill>
                  <a:srgbClr val="FFFFFF"/>
                </a:solidFill>
                <a:hlinkClick r:id="rId5"/>
              </a:rPr>
              <a:t>https://github.com/moby/moby/issues/30110</a:t>
            </a:r>
            <a:r>
              <a:rPr lang="en-US" u="sng" dirty="0">
                <a:solidFill>
                  <a:srgbClr val="FFFFFF"/>
                </a:solidFill>
              </a:rPr>
              <a:t> </a:t>
            </a:r>
          </a:p>
          <a:p>
            <a:pPr algn="l" fontAlgn="base"/>
            <a:endParaRPr lang="en-US" sz="1800" u="sng" dirty="0">
              <a:solidFill>
                <a:srgbClr val="FFFFFF"/>
              </a:solidFill>
            </a:endParaRPr>
          </a:p>
          <a:p>
            <a:pPr algn="l" fontAlgn="base"/>
            <a:r>
              <a:rPr lang="en-US" u="sng" dirty="0">
                <a:solidFill>
                  <a:srgbClr val="0070C0"/>
                </a:solidFill>
              </a:rPr>
              <a:t>ADD</a:t>
            </a:r>
            <a:r>
              <a:rPr lang="en-US" dirty="0"/>
              <a:t> lets you do that too, but it also supports 2 other sources. First, you can use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URL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instead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of a local file / directory. Secondly, you can </a:t>
            </a:r>
            <a:r>
              <a:rPr lang="en-US" dirty="0">
                <a:solidFill>
                  <a:srgbClr val="FF0000"/>
                </a:solidFill>
              </a:rPr>
              <a:t>extract a tar </a:t>
            </a:r>
            <a:r>
              <a:rPr lang="en-US" dirty="0"/>
              <a:t>file from the source directly into the destination.</a:t>
            </a:r>
          </a:p>
          <a:p>
            <a:pPr algn="l" fontAlgn="base"/>
            <a:endParaRPr lang="en-US" u="sng" dirty="0"/>
          </a:p>
          <a:p>
            <a:pPr marL="0" indent="0" fontAlgn="base">
              <a:buNone/>
            </a:pPr>
            <a:endParaRPr lang="en-US" sz="1800" dirty="0"/>
          </a:p>
          <a:p>
            <a:pPr algn="l" fontAlgn="base"/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17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AEC61A-19B5-6DEF-A516-4E1E80C1FC86}"/>
              </a:ext>
            </a:extLst>
          </p:cNvPr>
          <p:cNvSpPr txBox="1"/>
          <p:nvPr/>
        </p:nvSpPr>
        <p:spPr>
          <a:xfrm>
            <a:off x="417286" y="7497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r>
              <a:rPr lang="en-US" sz="3600" dirty="0" err="1"/>
              <a:t>Dockerfile</a:t>
            </a:r>
            <a:r>
              <a:rPr lang="en-US" sz="1800" dirty="0"/>
              <a:t> </a:t>
            </a:r>
            <a:r>
              <a:rPr lang="en-US" sz="3600" dirty="0"/>
              <a:t>basics cont’d</a:t>
            </a:r>
            <a:r>
              <a:rPr lang="en-US" dirty="0"/>
              <a:t> </a:t>
            </a:r>
            <a:endParaRPr lang="en-US" sz="3600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4A8EA95-567D-43D6-2F20-F6CC1A8D08CF}"/>
              </a:ext>
            </a:extLst>
          </p:cNvPr>
          <p:cNvSpPr txBox="1">
            <a:spLocks/>
          </p:cNvSpPr>
          <p:nvPr/>
        </p:nvSpPr>
        <p:spPr>
          <a:xfrm>
            <a:off x="315686" y="1876735"/>
            <a:ext cx="11034486" cy="466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u="sng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ENTRYPOINT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configures a container that will run as an executable = </a:t>
            </a:r>
            <a:r>
              <a:rPr lang="en-US" dirty="0">
                <a:solidFill>
                  <a:srgbClr val="FF0000"/>
                </a:solidFill>
              </a:rPr>
              <a:t>CMD</a:t>
            </a:r>
          </a:p>
          <a:p>
            <a:pPr algn="l" fontAlgn="base"/>
            <a:endParaRPr lang="en-US" dirty="0">
              <a:solidFill>
                <a:srgbClr val="FF0000"/>
              </a:solidFill>
            </a:endParaRPr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VOLUME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creates a mount point for </a:t>
            </a:r>
            <a:r>
              <a:rPr lang="en-US" dirty="0">
                <a:solidFill>
                  <a:srgbClr val="FF0000"/>
                </a:solidFill>
              </a:rPr>
              <a:t>externally mounted volumes </a:t>
            </a:r>
            <a:r>
              <a:rPr lang="en-US" dirty="0"/>
              <a:t>or other containers.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sets the user name for following RUN / CMD / ENTRYPOINT commands, By default it run commands as a </a:t>
            </a:r>
            <a:r>
              <a:rPr lang="en-US" dirty="0">
                <a:solidFill>
                  <a:srgbClr val="FF0000"/>
                </a:solidFill>
              </a:rPr>
              <a:t>root</a:t>
            </a:r>
            <a:r>
              <a:rPr lang="en-US" dirty="0">
                <a:solidFill>
                  <a:srgbClr val="FFFFFF"/>
                </a:solidFill>
              </a:rPr>
              <a:t>  </a:t>
            </a:r>
          </a:p>
          <a:p>
            <a:pPr algn="l" fontAlgn="base"/>
            <a:endParaRPr lang="en-US" dirty="0">
              <a:solidFill>
                <a:srgbClr val="FFFFFF"/>
              </a:solidFill>
            </a:endParaRPr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WORKDIR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sets the </a:t>
            </a:r>
            <a:r>
              <a:rPr lang="en-US" dirty="0">
                <a:solidFill>
                  <a:srgbClr val="FF0000"/>
                </a:solidFill>
              </a:rPr>
              <a:t>working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directory</a:t>
            </a:r>
            <a:r>
              <a:rPr lang="en-US" dirty="0"/>
              <a:t>, By default it run commands in </a:t>
            </a:r>
            <a:r>
              <a:rPr lang="en-US" dirty="0">
                <a:solidFill>
                  <a:srgbClr val="FF0000"/>
                </a:solidFill>
              </a:rPr>
              <a:t>home directory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 algn="l" fontAlgn="base"/>
            <a:endParaRPr lang="en-US" dirty="0">
              <a:solidFill>
                <a:srgbClr val="FFFFFF"/>
              </a:solidFill>
            </a:endParaRPr>
          </a:p>
          <a:p>
            <a:pPr algn="l" fontAlgn="base"/>
            <a:r>
              <a:rPr lang="en-US" u="sng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/>
              <a:t>defines a build-time variable.</a:t>
            </a:r>
          </a:p>
          <a:p>
            <a:pPr marL="0" indent="0" fontAlgn="base">
              <a:buNone/>
            </a:pPr>
            <a:endParaRPr lang="en-US" sz="1800" dirty="0"/>
          </a:p>
          <a:p>
            <a:pPr algn="l" fontAlgn="base"/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9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1B2D99-F347-8ED7-C835-C9173885AF7D}"/>
              </a:ext>
            </a:extLst>
          </p:cNvPr>
          <p:cNvSpPr txBox="1"/>
          <p:nvPr/>
        </p:nvSpPr>
        <p:spPr>
          <a:xfrm>
            <a:off x="417286" y="7497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r>
              <a:rPr lang="en-US" sz="3600" dirty="0" err="1"/>
              <a:t>Dockerfile</a:t>
            </a:r>
            <a:r>
              <a:rPr lang="en-US" sz="1800" dirty="0"/>
              <a:t> </a:t>
            </a:r>
            <a:r>
              <a:rPr lang="en-US" sz="3600" dirty="0"/>
              <a:t>Sample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AC995-8279-5701-6B0E-F8745CF94464}"/>
              </a:ext>
            </a:extLst>
          </p:cNvPr>
          <p:cNvSpPr txBox="1"/>
          <p:nvPr/>
        </p:nvSpPr>
        <p:spPr>
          <a:xfrm>
            <a:off x="557963" y="205332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AA0D91"/>
                </a:solidFill>
                <a:effectLst/>
                <a:latin typeface="source-code-pro"/>
              </a:rPr>
              <a:t>FROM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  node:</a:t>
            </a:r>
            <a:r>
              <a:rPr lang="en-US" sz="2400" b="0" i="0" dirty="0">
                <a:solidFill>
                  <a:srgbClr val="1C00CF"/>
                </a:solidFill>
                <a:effectLst/>
                <a:latin typeface="source-code-pro"/>
              </a:rPr>
              <a:t>14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-alpine3</a:t>
            </a:r>
            <a:r>
              <a:rPr lang="en-US" sz="2400" b="0" i="0" dirty="0">
                <a:solidFill>
                  <a:srgbClr val="1C00CF"/>
                </a:solidFill>
                <a:effectLst/>
                <a:latin typeface="source-code-pro"/>
              </a:rPr>
              <a:t>.16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solidFill>
                  <a:srgbClr val="AA0D91"/>
                </a:solidFill>
                <a:latin typeface="source-code-pro"/>
              </a:rPr>
              <a:t>WORKDIR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  /app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0" i="0" dirty="0">
                <a:solidFill>
                  <a:srgbClr val="AA0D91"/>
                </a:solidFill>
                <a:effectLst/>
                <a:latin typeface="source-code-pro"/>
              </a:rPr>
              <a:t>COPY  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 .  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solidFill>
                  <a:srgbClr val="AA0D91"/>
                </a:solidFill>
                <a:latin typeface="source-code-pro"/>
              </a:rPr>
              <a:t>RUN  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US" sz="2400" b="0" i="0" dirty="0" err="1">
                <a:solidFill>
                  <a:srgbClr val="242424"/>
                </a:solidFill>
                <a:effectLst/>
                <a:latin typeface="source-code-pro"/>
              </a:rPr>
              <a:t>npm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 install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solidFill>
                  <a:srgbClr val="AA0D91"/>
                </a:solidFill>
                <a:latin typeface="source-code-pro"/>
              </a:rPr>
              <a:t>CMD 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 [ "</a:t>
            </a:r>
            <a:r>
              <a:rPr lang="en-US" sz="2400" b="0" i="0" dirty="0" err="1">
                <a:solidFill>
                  <a:srgbClr val="242424"/>
                </a:solidFill>
                <a:effectLst/>
                <a:latin typeface="source-code-pro"/>
              </a:rPr>
              <a:t>npm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", "start" ]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151174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DF045E-9FE3-94AF-F96E-4C7CD04E0349}"/>
              </a:ext>
            </a:extLst>
          </p:cNvPr>
          <p:cNvSpPr txBox="1"/>
          <p:nvPr/>
        </p:nvSpPr>
        <p:spPr>
          <a:xfrm>
            <a:off x="595084" y="754301"/>
            <a:ext cx="9173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G" sz="3600" dirty="0"/>
              <a:t>Building</a:t>
            </a:r>
            <a:r>
              <a:rPr lang="en-EG" sz="1800" dirty="0"/>
              <a:t> </a:t>
            </a:r>
            <a:r>
              <a:rPr lang="en-EG" sz="3600" dirty="0"/>
              <a:t>Docker</a:t>
            </a:r>
            <a:r>
              <a:rPr lang="en-US" sz="3600" dirty="0"/>
              <a:t> </a:t>
            </a:r>
            <a:r>
              <a:rPr lang="en-EG" sz="3600" dirty="0"/>
              <a:t>file, tagging and creating image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B65B2432-A8AD-5817-469F-17DC03F896CA}"/>
              </a:ext>
            </a:extLst>
          </p:cNvPr>
          <p:cNvSpPr txBox="1">
            <a:spLocks/>
          </p:cNvSpPr>
          <p:nvPr/>
        </p:nvSpPr>
        <p:spPr>
          <a:xfrm>
            <a:off x="838199" y="2415494"/>
            <a:ext cx="11353801" cy="320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dirty="0">
                <a:solidFill>
                  <a:schemeClr val="accent1"/>
                </a:solidFill>
              </a:rPr>
              <a:t>Traditionally</a:t>
            </a:r>
            <a:r>
              <a:rPr lang="en-US" sz="1800" dirty="0"/>
              <a:t>, </a:t>
            </a:r>
            <a:r>
              <a:rPr lang="en-US" dirty="0"/>
              <a:t>the </a:t>
            </a:r>
            <a:r>
              <a:rPr lang="en-US" dirty="0" err="1"/>
              <a:t>Dockerfile</a:t>
            </a:r>
            <a:r>
              <a:rPr lang="en-US" dirty="0"/>
              <a:t> is called ”</a:t>
            </a:r>
            <a:r>
              <a:rPr lang="en-US" dirty="0" err="1"/>
              <a:t>Dockerfile</a:t>
            </a:r>
            <a:r>
              <a:rPr lang="en-US" sz="1800" dirty="0"/>
              <a:t>” </a:t>
            </a:r>
          </a:p>
          <a:p>
            <a:pPr algn="l" fontAlgn="base"/>
            <a:r>
              <a:rPr lang="en-US" dirty="0"/>
              <a:t>build </a:t>
            </a:r>
            <a:r>
              <a:rPr lang="en-US" dirty="0" err="1"/>
              <a:t>Dockerfile</a:t>
            </a:r>
            <a:r>
              <a:rPr lang="en-US" dirty="0"/>
              <a:t> &gt; docker build </a:t>
            </a:r>
            <a:r>
              <a:rPr lang="en-US" dirty="0">
                <a:solidFill>
                  <a:srgbClr val="FF0000"/>
                </a:solidFill>
              </a:rPr>
              <a:t>.(current </a:t>
            </a:r>
            <a:r>
              <a:rPr lang="en-US" dirty="0" err="1">
                <a:solidFill>
                  <a:srgbClr val="FF0000"/>
                </a:solidFill>
              </a:rPr>
              <a:t>dictory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algn="l"/>
            <a:r>
              <a:rPr lang="en-US" dirty="0"/>
              <a:t>build </a:t>
            </a:r>
            <a:r>
              <a:rPr lang="en-US" dirty="0" err="1"/>
              <a:t>Dockerfile</a:t>
            </a:r>
            <a:r>
              <a:rPr lang="en-US" dirty="0"/>
              <a:t> with image tag add “-t” &gt; docker build –t “tag” </a:t>
            </a:r>
            <a:r>
              <a:rPr lang="en-US" dirty="0">
                <a:solidFill>
                  <a:srgbClr val="FF0000"/>
                </a:solidFill>
              </a:rPr>
              <a:t>.(current </a:t>
            </a:r>
            <a:r>
              <a:rPr lang="en-US" dirty="0" err="1">
                <a:solidFill>
                  <a:srgbClr val="FF0000"/>
                </a:solidFill>
              </a:rPr>
              <a:t>dictory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algn="l"/>
            <a:endParaRPr lang="en-US" dirty="0">
              <a:solidFill>
                <a:srgbClr val="FF0000"/>
              </a:solidFill>
            </a:endParaRPr>
          </a:p>
          <a:p>
            <a:pPr algn="l"/>
            <a:r>
              <a:rPr lang="en-US" dirty="0">
                <a:solidFill>
                  <a:schemeClr val="accent1"/>
                </a:solidFill>
              </a:rPr>
              <a:t>If the </a:t>
            </a:r>
            <a:r>
              <a:rPr lang="en-US" dirty="0" err="1">
                <a:solidFill>
                  <a:schemeClr val="accent1"/>
                </a:solidFill>
              </a:rPr>
              <a:t>Dockerfile</a:t>
            </a:r>
            <a:r>
              <a:rPr lang="en-US" dirty="0">
                <a:solidFill>
                  <a:schemeClr val="accent1"/>
                </a:solidFill>
              </a:rPr>
              <a:t> is not named </a:t>
            </a:r>
            <a:r>
              <a:rPr lang="en-US" dirty="0"/>
              <a:t>as “</a:t>
            </a:r>
            <a:r>
              <a:rPr lang="en-US" dirty="0" err="1"/>
              <a:t>Dockerfile</a:t>
            </a:r>
            <a:r>
              <a:rPr lang="en-US" dirty="0"/>
              <a:t>”</a:t>
            </a:r>
          </a:p>
          <a:p>
            <a:pPr algn="l"/>
            <a:r>
              <a:rPr lang="en-US" dirty="0"/>
              <a:t>build </a:t>
            </a:r>
            <a:r>
              <a:rPr lang="en-US" dirty="0" err="1"/>
              <a:t>Dockerfile</a:t>
            </a:r>
            <a:r>
              <a:rPr lang="en-US" dirty="0"/>
              <a:t> &gt; docker build -f /path/to/a/</a:t>
            </a:r>
            <a:r>
              <a:rPr lang="en-US" dirty="0" err="1"/>
              <a:t>Dockerfile</a:t>
            </a:r>
            <a:r>
              <a:rPr lang="en-US" dirty="0"/>
              <a:t> </a:t>
            </a:r>
            <a:endParaRPr lang="en-US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build </a:t>
            </a:r>
            <a:r>
              <a:rPr lang="en-US" dirty="0" err="1"/>
              <a:t>Dockerfile</a:t>
            </a:r>
            <a:r>
              <a:rPr lang="en-US" dirty="0"/>
              <a:t> with image tag add “-t” &gt; docker build –t “tag” -f /path/to/a/</a:t>
            </a:r>
            <a:r>
              <a:rPr lang="en-US" dirty="0" err="1"/>
              <a:t>Dockerfile</a:t>
            </a:r>
            <a:r>
              <a:rPr lang="en-US" dirty="0"/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55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A37CA1-DD42-6970-C0D1-176535D03C03}"/>
              </a:ext>
            </a:extLst>
          </p:cNvPr>
          <p:cNvSpPr txBox="1"/>
          <p:nvPr/>
        </p:nvSpPr>
        <p:spPr>
          <a:xfrm>
            <a:off x="667657" y="755802"/>
            <a:ext cx="8447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G" sz="3600" dirty="0"/>
              <a:t>Logging</a:t>
            </a:r>
            <a:r>
              <a:rPr lang="en-EG" sz="1800" dirty="0"/>
              <a:t> </a:t>
            </a:r>
            <a:r>
              <a:rPr lang="en-EG" sz="3600" dirty="0"/>
              <a:t>to your Docker repo from CLI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FAC46-C5BE-0A63-A201-FC4A824986BC}"/>
              </a:ext>
            </a:extLst>
          </p:cNvPr>
          <p:cNvSpPr txBox="1"/>
          <p:nvPr/>
        </p:nvSpPr>
        <p:spPr>
          <a:xfrm>
            <a:off x="1016000" y="2346849"/>
            <a:ext cx="863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docker login “URL”</a:t>
            </a:r>
          </a:p>
          <a:p>
            <a:r>
              <a:rPr lang="en-US" sz="2400" dirty="0"/>
              <a:t>By Default, docker login &gt; redirects login to docker hub</a:t>
            </a:r>
          </a:p>
          <a:p>
            <a:r>
              <a:rPr lang="en-US" sz="2400" dirty="0"/>
              <a:t>Enter your username and password</a:t>
            </a:r>
          </a:p>
        </p:txBody>
      </p:sp>
    </p:spTree>
    <p:extLst>
      <p:ext uri="{BB962C8B-B14F-4D97-AF65-F5344CB8AC3E}">
        <p14:creationId xmlns:p14="http://schemas.microsoft.com/office/powerpoint/2010/main" val="35258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is Docker? | AWS">
            <a:extLst>
              <a:ext uri="{FF2B5EF4-FFF2-40B4-BE49-F238E27FC236}">
                <a16:creationId xmlns:a16="http://schemas.microsoft.com/office/drawing/2014/main" id="{FEB04827-0979-CF71-8E55-B91431D7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25" y="154358"/>
            <a:ext cx="265747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B91F0D-9FE8-5A37-C9A4-0E1AD74901A8}"/>
              </a:ext>
            </a:extLst>
          </p:cNvPr>
          <p:cNvSpPr txBox="1"/>
          <p:nvPr/>
        </p:nvSpPr>
        <p:spPr>
          <a:xfrm>
            <a:off x="1203325" y="778245"/>
            <a:ext cx="833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G" sz="3600" dirty="0"/>
              <a:t>Pushing/Pulling image to docker repo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7A49A3-E7A0-F1C4-D1BA-75149BBA2596}"/>
              </a:ext>
            </a:extLst>
          </p:cNvPr>
          <p:cNvSpPr txBox="1"/>
          <p:nvPr/>
        </p:nvSpPr>
        <p:spPr>
          <a:xfrm>
            <a:off x="1129393" y="2048463"/>
            <a:ext cx="86809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docker tag </a:t>
            </a:r>
            <a:r>
              <a:rPr lang="en-US" sz="2400" dirty="0" err="1"/>
              <a:t>local-image:tagname</a:t>
            </a:r>
            <a:r>
              <a:rPr lang="en-US" sz="2400" dirty="0"/>
              <a:t> </a:t>
            </a:r>
            <a:r>
              <a:rPr lang="en-US" sz="2400" dirty="0" err="1"/>
              <a:t>remote-repo:tagname</a:t>
            </a:r>
            <a:endParaRPr lang="en-US" sz="2400" dirty="0"/>
          </a:p>
          <a:p>
            <a:r>
              <a:rPr lang="en-US" sz="2400" dirty="0"/>
              <a:t>docker push </a:t>
            </a:r>
            <a:r>
              <a:rPr lang="en-US" sz="2400" dirty="0" err="1"/>
              <a:t>remote-repo:tagname</a:t>
            </a:r>
            <a:r>
              <a:rPr lang="en-US" sz="2400" dirty="0"/>
              <a:t>  </a:t>
            </a:r>
          </a:p>
          <a:p>
            <a:r>
              <a:rPr lang="en-US" sz="2400" dirty="0"/>
              <a:t>docker pull </a:t>
            </a:r>
            <a:r>
              <a:rPr lang="en-US" sz="2400" dirty="0" err="1"/>
              <a:t>new-repo:tagname</a:t>
            </a:r>
            <a:r>
              <a:rPr lang="en-US" sz="2400" dirty="0"/>
              <a:t>  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Example </a:t>
            </a:r>
          </a:p>
          <a:p>
            <a:r>
              <a:rPr lang="en-US" sz="2400" dirty="0"/>
              <a:t>docker tag     </a:t>
            </a:r>
            <a:r>
              <a:rPr lang="en-US" dirty="0">
                <a:solidFill>
                  <a:srgbClr val="FF0000"/>
                </a:solidFill>
              </a:rPr>
              <a:t>image-</a:t>
            </a:r>
            <a:r>
              <a:rPr lang="en-US" sz="1800" dirty="0">
                <a:solidFill>
                  <a:srgbClr val="FF0000"/>
                </a:solidFill>
              </a:rPr>
              <a:t>id  </a:t>
            </a:r>
            <a:r>
              <a:rPr lang="en-US" sz="1800" dirty="0" err="1">
                <a:solidFill>
                  <a:srgbClr val="FF0000"/>
                </a:solidFill>
              </a:rPr>
              <a:t>hossamesaaa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firstproject:hossam</a:t>
            </a:r>
            <a:endParaRPr lang="en-US" sz="1800" dirty="0">
              <a:solidFill>
                <a:srgbClr val="FF0000"/>
              </a:solidFill>
            </a:endParaRPr>
          </a:p>
          <a:p>
            <a:r>
              <a:rPr lang="en-US" sz="2400" dirty="0"/>
              <a:t>docker push  </a:t>
            </a:r>
            <a:r>
              <a:rPr lang="en-US" sz="1800" dirty="0" err="1">
                <a:solidFill>
                  <a:srgbClr val="FF0000"/>
                </a:solidFill>
              </a:rPr>
              <a:t>hossamesaaa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firstproject:hossam</a:t>
            </a:r>
            <a:endParaRPr lang="en-US" sz="1800" dirty="0">
              <a:solidFill>
                <a:srgbClr val="FF0000"/>
              </a:solidFill>
            </a:endParaRPr>
          </a:p>
          <a:p>
            <a:r>
              <a:rPr lang="en-US" sz="2400" dirty="0"/>
              <a:t>docker</a:t>
            </a:r>
            <a:r>
              <a:rPr lang="en-US" sz="1800" dirty="0"/>
              <a:t> </a:t>
            </a:r>
            <a:r>
              <a:rPr lang="en-US" sz="2400" dirty="0"/>
              <a:t>pull</a:t>
            </a:r>
            <a:r>
              <a:rPr lang="en-US" sz="1800" dirty="0"/>
              <a:t>    </a:t>
            </a:r>
            <a:r>
              <a:rPr lang="en-US" sz="1800" dirty="0" err="1">
                <a:solidFill>
                  <a:srgbClr val="FF0000"/>
                </a:solidFill>
              </a:rPr>
              <a:t>hossamesaaa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firstproject:hossam</a:t>
            </a:r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04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635CCCF636F6469FA79A8DEC40C8E5" ma:contentTypeVersion="11" ma:contentTypeDescription="Create a new document." ma:contentTypeScope="" ma:versionID="797c45c1893cfd06804d02706fcf38e1">
  <xsd:schema xmlns:xsd="http://www.w3.org/2001/XMLSchema" xmlns:xs="http://www.w3.org/2001/XMLSchema" xmlns:p="http://schemas.microsoft.com/office/2006/metadata/properties" xmlns:ns2="4dcd2595-b76d-4e34-bc8f-b6eb8a79c5bb" xmlns:ns3="62567dbb-df85-433f-946f-d35b3dbc5e0e" targetNamespace="http://schemas.microsoft.com/office/2006/metadata/properties" ma:root="true" ma:fieldsID="e29be50bb31e42de68ad11f397edc20b" ns2:_="" ns3:_="">
    <xsd:import namespace="4dcd2595-b76d-4e34-bc8f-b6eb8a79c5bb"/>
    <xsd:import namespace="62567dbb-df85-433f-946f-d35b3dbc5e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cd2595-b76d-4e34-bc8f-b6eb8a79c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67dbb-df85-433f-946f-d35b3dbc5e0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1d2f805-1408-42a0-be00-3692177d21f8}" ma:internalName="TaxCatchAll" ma:showField="CatchAllData" ma:web="62567dbb-df85-433f-946f-d35b3dbc5e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cd2595-b76d-4e34-bc8f-b6eb8a79c5bb">
      <Terms xmlns="http://schemas.microsoft.com/office/infopath/2007/PartnerControls"/>
    </lcf76f155ced4ddcb4097134ff3c332f>
    <TaxCatchAll xmlns="62567dbb-df85-433f-946f-d35b3dbc5e0e" xsi:nil="true"/>
  </documentManagement>
</p:properties>
</file>

<file path=customXml/itemProps1.xml><?xml version="1.0" encoding="utf-8"?>
<ds:datastoreItem xmlns:ds="http://schemas.openxmlformats.org/officeDocument/2006/customXml" ds:itemID="{2287BD51-A6EF-4B11-930B-37C26D93FE0E}"/>
</file>

<file path=customXml/itemProps2.xml><?xml version="1.0" encoding="utf-8"?>
<ds:datastoreItem xmlns:ds="http://schemas.openxmlformats.org/officeDocument/2006/customXml" ds:itemID="{C8A39F75-7381-4F8A-890B-B6BDA576A68B}"/>
</file>

<file path=customXml/itemProps3.xml><?xml version="1.0" encoding="utf-8"?>
<ds:datastoreItem xmlns:ds="http://schemas.openxmlformats.org/officeDocument/2006/customXml" ds:itemID="{92429EFE-1A6E-4BDF-BA82-43D454D55A9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1863</TotalTime>
  <Words>1425</Words>
  <Application>Microsoft Office PowerPoint</Application>
  <PresentationFormat>Widescreen</PresentationFormat>
  <Paragraphs>175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Calibri</vt:lpstr>
      <vt:lpstr>Calibri Light</vt:lpstr>
      <vt:lpstr>GillSans-Light</vt:lpstr>
      <vt:lpstr>RedHatDisplay-Bold</vt:lpstr>
      <vt:lpstr>RedHatText-Bold</vt:lpstr>
      <vt:lpstr>RedHatText-Regular</vt:lpstr>
      <vt:lpstr>source-code-pro</vt:lpstr>
      <vt:lpstr>source-serif-pro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Control</dc:title>
  <dc:creator>METRO</dc:creator>
  <cp:lastModifiedBy>Hossam Esaa</cp:lastModifiedBy>
  <cp:revision>217</cp:revision>
  <dcterms:created xsi:type="dcterms:W3CDTF">2024-01-09T17:57:24Z</dcterms:created>
  <dcterms:modified xsi:type="dcterms:W3CDTF">2024-05-12T11:49:43Z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0x01010030635CCCF636F6469FA79A8DEC40C8E5</vt:lpwstr>
  </property>
</Properties>
</file>